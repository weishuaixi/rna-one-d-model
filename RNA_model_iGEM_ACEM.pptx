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547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DDB26-E12B-861B-84E3-6A8270296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81D3C5-F824-5CD4-87DA-A9C898113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167F43-2D9A-93DA-E2E2-F4B9141F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A9C923-D828-4BAD-1DCC-F7943CF52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1D3FCA-68CA-A8B8-FEF1-CB52BE607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717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4D422B-40DA-0478-7A45-FB3E43069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D84D55-078B-B0FE-31BE-015371B3D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1C1B7A-2157-4850-FAFB-C57075851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401449-F479-BDE0-F8EA-DEFAE4EF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078495-3E41-0170-F875-1EC54933F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30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BFF2E-6636-EE42-2207-E40B0D012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902BA0-19D9-3B89-7729-DD4333426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CE0902-6622-BB91-15CA-8F011073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51675-1672-11FB-B372-59B1C4BF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C31A47-7341-E5E4-8E5F-5F6CD54E5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78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347F0-7DB2-9E2E-E1FA-86B4A99F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DCF59D-AF0E-77E8-D94B-107735974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161AA9-5252-419E-758F-1E74082E2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F45D0A-5A03-2975-8B47-DA4C8F1E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17B386-E90F-43C3-C63D-B1DCC095E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8D0AD0-47A5-6C0C-22C7-C10FC5BC2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046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ED04BE-7A53-DCC2-A430-F79D506A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532476-9DE9-F78A-3A78-2D9875CC4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B35130-FCE9-9C1C-FA55-AE2020133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3D5C9D-139C-2839-3C0E-0258AB14B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F6F6C2-437F-90B5-E0FA-3DB488F29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7CF0EFF-27A1-88A7-1D08-88D3571E2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4E2274-D1D7-E7AC-BDF3-29A8B6BC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6C11CF-BFC0-07E9-1508-78F5737B8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509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0D79F-A444-7B60-D046-BAC72695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C6E32F-0999-98B9-B309-EF21ECEA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6AF52A-ECF3-9A7C-8963-E49C20C92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2EAFD5-CCA6-A7E4-1C89-7AAFFE16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502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FF71E4-1196-8512-3324-854851D1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3FEB2C-2620-DD67-F81F-C3FAD3DF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CB9F6B-3F0F-8F58-1FEE-A75C6458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5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89702-678B-E8D2-B06C-2341E1199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5CBE67-3B07-F94D-8D28-89E3195BC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7C1880-E756-FC62-101A-9733E5399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57E57C-F2DA-31ED-A778-6D37F5192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E08968-81E8-19C2-FE11-A417F7C4F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FB7F47-97A0-4CBF-E77C-F0985486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398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8EC65-677C-61E8-8A4B-211EAF2FE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6757BA-735E-591D-6B07-2ACD40340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B25110-6BAF-F75E-28D6-2206284C1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57EA18-7DF3-1B0A-F580-4340E563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662A27-85AB-8A71-B011-15BFCD544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0FD8A4-BEA8-8059-0965-21A09C38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6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0005C-6CDC-7BE3-9829-34074C175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2D55AA-5552-BCC4-1F5F-D3E676C70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6F97D0-3696-F2F3-EB07-64E152A07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36925F-18E4-181B-7B7D-07DA9318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D4C650-8197-AEE4-6C76-A5411D033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40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73FD5DC-2224-053E-A7AE-328EEEB88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66029B-D941-0CED-D8CE-926C2DE4C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28466F-B8DB-6CF3-C568-94055D233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BBC4D2-D330-A1D5-CD05-A9BA27CC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4FA38A-FBB4-C7E0-0B6B-D5CEBF64C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6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9342A5-4E7B-015E-BCCD-62B8D20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5FE95D-8598-7FFA-5411-1E93E4BF1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95CCD-BD8D-0C2A-1F31-7CA02A914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BC901-9042-4827-B4F2-C8BA140463B5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4250CC-C7DD-8879-B01F-B8A004070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EC7554-46FE-1667-C4B8-9F07B0AF5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7D72B-46A5-4D35-81E3-843D2D7550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611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C58B4A-AAA1-1D15-F2BB-2BABC78E51B9}"/>
              </a:ext>
            </a:extLst>
          </p:cNvPr>
          <p:cNvSpPr txBox="1"/>
          <p:nvPr/>
        </p:nvSpPr>
        <p:spPr>
          <a:xfrm>
            <a:off x="736600" y="1333500"/>
            <a:ext cx="10668000" cy="5745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3400" b="1">
                <a:solidFill>
                  <a:srgbClr val="1F2328"/>
                </a:solidFill>
                <a:latin typeface="Microsoft YaHei" panose="020B0503020204020204" pitchFamily="34" charset="-122"/>
              </a:rPr>
              <a:t>RNA motif </a:t>
            </a:r>
            <a:r>
              <a:rPr lang="zh-CN" altLang="en-US" sz="3400" b="1">
                <a:solidFill>
                  <a:srgbClr val="1F2328"/>
                </a:solidFill>
                <a:latin typeface="Microsoft YaHei" panose="020B0503020204020204" pitchFamily="34" charset="-122"/>
              </a:rPr>
              <a:t>条件补全与全原子 </a:t>
            </a:r>
            <a:r>
              <a:rPr lang="en-US" altLang="zh-CN" sz="3400" b="1">
                <a:solidFill>
                  <a:srgbClr val="1F2328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3400" b="1">
                <a:solidFill>
                  <a:srgbClr val="1F2328"/>
                </a:solidFill>
                <a:latin typeface="Microsoft YaHei" panose="020B0503020204020204" pitchFamily="34" charset="-122"/>
              </a:rPr>
              <a:t>折叠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45F82B-3DE7-2EEA-8344-25256F649E53}"/>
              </a:ext>
            </a:extLst>
          </p:cNvPr>
          <p:cNvSpPr txBox="1"/>
          <p:nvPr/>
        </p:nvSpPr>
        <p:spPr>
          <a:xfrm>
            <a:off x="762000" y="2590800"/>
            <a:ext cx="10414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2100" b="1">
                <a:solidFill>
                  <a:srgbClr val="C96725"/>
                </a:solidFill>
                <a:latin typeface="Microsoft YaHei" panose="020B0503020204020204" pitchFamily="34" charset="-122"/>
              </a:rPr>
              <a:t>Attribution · Contribution · Engineering · Measurement</a:t>
            </a:r>
            <a:endParaRPr lang="zh-CN" altLang="en-US" sz="2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3A0DC7-79A9-E392-470B-7E1EBE5A18D9}"/>
              </a:ext>
            </a:extLst>
          </p:cNvPr>
          <p:cNvSpPr txBox="1"/>
          <p:nvPr/>
        </p:nvSpPr>
        <p:spPr>
          <a:xfrm>
            <a:off x="762000" y="3365500"/>
            <a:ext cx="965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>
                <a:solidFill>
                  <a:srgbClr val="636A71"/>
                </a:solidFill>
                <a:latin typeface="Microsoft YaHei" panose="020B0503020204020204" pitchFamily="34" charset="-122"/>
              </a:rPr>
              <a:t>从短序列输入，到可测量、可复现、可进入湿实验的候选设计系统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9D9724A-44C5-CFF0-83F6-7246034C6FA2}"/>
              </a:ext>
            </a:extLst>
          </p:cNvPr>
          <p:cNvSpPr/>
          <p:nvPr/>
        </p:nvSpPr>
        <p:spPr>
          <a:xfrm>
            <a:off x="762000" y="4635500"/>
            <a:ext cx="10668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9265B2-EEA6-4815-1D9F-84CC3651C6AE}"/>
              </a:ext>
            </a:extLst>
          </p:cNvPr>
          <p:cNvSpPr txBox="1"/>
          <p:nvPr/>
        </p:nvSpPr>
        <p:spPr>
          <a:xfrm>
            <a:off x="1041400" y="4851400"/>
            <a:ext cx="1397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00" b="1">
                <a:solidFill>
                  <a:srgbClr val="C96725"/>
                </a:solidFill>
                <a:latin typeface="Microsoft YaHei" panose="020B0503020204020204" pitchFamily="34" charset="-122"/>
              </a:rPr>
              <a:t>核心主张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D756BA-C7F8-33F9-815D-AF3449B1D267}"/>
              </a:ext>
            </a:extLst>
          </p:cNvPr>
          <p:cNvSpPr txBox="1"/>
          <p:nvPr/>
        </p:nvSpPr>
        <p:spPr>
          <a:xfrm>
            <a:off x="2413000" y="4775200"/>
            <a:ext cx="86360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b="1">
                <a:solidFill>
                  <a:srgbClr val="1F2328"/>
                </a:solidFill>
                <a:latin typeface="Microsoft YaHei" panose="020B0503020204020204" pitchFamily="34" charset="-122"/>
              </a:rPr>
              <a:t>贡献不是“又一个折叠模型”，而是一条 </a:t>
            </a:r>
            <a:r>
              <a:rPr lang="en-US" altLang="zh-CN" b="1">
                <a:solidFill>
                  <a:srgbClr val="1F2328"/>
                </a:solidFill>
                <a:latin typeface="Microsoft YaHei" panose="020B0503020204020204" pitchFamily="34" charset="-122"/>
              </a:rPr>
              <a:t>motif → </a:t>
            </a:r>
            <a:r>
              <a:rPr lang="zh-CN" altLang="en-US" b="1">
                <a:solidFill>
                  <a:srgbClr val="1F2328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b="1">
                <a:solidFill>
                  <a:srgbClr val="1F2328"/>
                </a:solidFill>
                <a:latin typeface="Microsoft YaHei" panose="020B0503020204020204" pitchFamily="34" charset="-122"/>
              </a:rPr>
              <a:t>RNA → 3D → </a:t>
            </a:r>
            <a:r>
              <a:rPr lang="zh-CN" altLang="en-US" b="1">
                <a:solidFill>
                  <a:srgbClr val="1F2328"/>
                </a:solidFill>
                <a:latin typeface="Microsoft YaHei" panose="020B0503020204020204" pitchFamily="34" charset="-122"/>
              </a:rPr>
              <a:t>候选排序 → 实验验证的工程闭环。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FF25B5-1A18-D34E-2052-8228892A3D96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01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9642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EA3802-13EB-B521-98E9-FDE504373FC6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575A78-2E89-875F-1B54-144EA4A98FEB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我们解决的是一个完整设计问题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35AF30-438F-2615-4398-FFC1653C3E61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83AEAA9-F3F6-3BEF-43F7-76661B4BB334}"/>
              </a:ext>
            </a:extLst>
          </p:cNvPr>
          <p:cNvSpPr/>
          <p:nvPr/>
        </p:nvSpPr>
        <p:spPr>
          <a:xfrm>
            <a:off x="698500" y="2667000"/>
            <a:ext cx="1778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A6585A-3592-5410-470C-3BD8BEEEF8E3}"/>
              </a:ext>
            </a:extLst>
          </p:cNvPr>
          <p:cNvSpPr txBox="1"/>
          <p:nvPr/>
        </p:nvSpPr>
        <p:spPr>
          <a:xfrm>
            <a:off x="825500" y="2946400"/>
            <a:ext cx="1524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固定 </a:t>
            </a:r>
            <a:r>
              <a:rPr lang="en-US" altLang="zh-CN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motif</a:t>
            </a:r>
            <a:endParaRPr lang="zh-CN" altLang="en-US" sz="1700" b="1">
              <a:solidFill>
                <a:srgbClr val="1F23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6E311A-2F5D-CF87-D6FE-219A168EED6F}"/>
              </a:ext>
            </a:extLst>
          </p:cNvPr>
          <p:cNvSpPr txBox="1"/>
          <p:nvPr/>
        </p:nvSpPr>
        <p:spPr>
          <a:xfrm>
            <a:off x="2514600" y="2921000"/>
            <a:ext cx="381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C96725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EF33FAB-5798-9F4B-CF08-66B446481404}"/>
              </a:ext>
            </a:extLst>
          </p:cNvPr>
          <p:cNvSpPr/>
          <p:nvPr/>
        </p:nvSpPr>
        <p:spPr>
          <a:xfrm>
            <a:off x="2921000" y="2667000"/>
            <a:ext cx="1778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5C6212-F7BE-2E82-101B-42332CEBEF5E}"/>
              </a:ext>
            </a:extLst>
          </p:cNvPr>
          <p:cNvSpPr txBox="1"/>
          <p:nvPr/>
        </p:nvSpPr>
        <p:spPr>
          <a:xfrm>
            <a:off x="3048000" y="2946400"/>
            <a:ext cx="1524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补全序列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E721C4-76B5-2098-FCFC-C7626430AF59}"/>
              </a:ext>
            </a:extLst>
          </p:cNvPr>
          <p:cNvSpPr txBox="1"/>
          <p:nvPr/>
        </p:nvSpPr>
        <p:spPr>
          <a:xfrm>
            <a:off x="4737100" y="2921000"/>
            <a:ext cx="381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C96725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20CB07C-5501-6CE1-2B3F-B7FD3C9DA54B}"/>
              </a:ext>
            </a:extLst>
          </p:cNvPr>
          <p:cNvSpPr/>
          <p:nvPr/>
        </p:nvSpPr>
        <p:spPr>
          <a:xfrm>
            <a:off x="5143500" y="2667000"/>
            <a:ext cx="1778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701CC6E-F609-45C7-63A1-6A2610015C35}"/>
              </a:ext>
            </a:extLst>
          </p:cNvPr>
          <p:cNvSpPr txBox="1"/>
          <p:nvPr/>
        </p:nvSpPr>
        <p:spPr>
          <a:xfrm>
            <a:off x="5270500" y="2946400"/>
            <a:ext cx="1524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全原子折叠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F25F75-6C4D-1FAD-A80D-CF1CEF2DD686}"/>
              </a:ext>
            </a:extLst>
          </p:cNvPr>
          <p:cNvSpPr txBox="1"/>
          <p:nvPr/>
        </p:nvSpPr>
        <p:spPr>
          <a:xfrm>
            <a:off x="6959600" y="2921000"/>
            <a:ext cx="381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C96725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B3D3E5E-35DE-E8D6-91FC-FD93CE41141D}"/>
              </a:ext>
            </a:extLst>
          </p:cNvPr>
          <p:cNvSpPr/>
          <p:nvPr/>
        </p:nvSpPr>
        <p:spPr>
          <a:xfrm>
            <a:off x="7366000" y="2667000"/>
            <a:ext cx="1778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D7EB99-77FA-1E83-4B98-07163695C20D}"/>
              </a:ext>
            </a:extLst>
          </p:cNvPr>
          <p:cNvSpPr txBox="1"/>
          <p:nvPr/>
        </p:nvSpPr>
        <p:spPr>
          <a:xfrm>
            <a:off x="7493000" y="2946400"/>
            <a:ext cx="1524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质量测量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EC94FF6-1551-71D0-409F-9967A901704A}"/>
              </a:ext>
            </a:extLst>
          </p:cNvPr>
          <p:cNvSpPr txBox="1"/>
          <p:nvPr/>
        </p:nvSpPr>
        <p:spPr>
          <a:xfrm>
            <a:off x="9182100" y="2921000"/>
            <a:ext cx="381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C96725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A253FC2-24D5-7CEE-BA5B-42402079E074}"/>
              </a:ext>
            </a:extLst>
          </p:cNvPr>
          <p:cNvSpPr/>
          <p:nvPr/>
        </p:nvSpPr>
        <p:spPr>
          <a:xfrm>
            <a:off x="9588500" y="2667000"/>
            <a:ext cx="1778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9A584B2-B32E-34EC-0A93-891B5F50F880}"/>
              </a:ext>
            </a:extLst>
          </p:cNvPr>
          <p:cNvSpPr txBox="1"/>
          <p:nvPr/>
        </p:nvSpPr>
        <p:spPr>
          <a:xfrm>
            <a:off x="9715500" y="2946400"/>
            <a:ext cx="1524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实验候选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E3A3C4-7476-31E0-AA2D-88958805D88A}"/>
              </a:ext>
            </a:extLst>
          </p:cNvPr>
          <p:cNvSpPr txBox="1"/>
          <p:nvPr/>
        </p:nvSpPr>
        <p:spPr>
          <a:xfrm>
            <a:off x="1181100" y="4495800"/>
            <a:ext cx="9842500" cy="66684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1F2328"/>
                </a:solidFill>
                <a:latin typeface="Microsoft YaHei" panose="020B0503020204020204" pitchFamily="34" charset="-122"/>
              </a:rPr>
              <a:t>完整序列直接折叠仍然保留，因为它是流水线的可复用子模块；真正的项目入口是短 </a:t>
            </a:r>
            <a:r>
              <a:rPr lang="en-US" altLang="zh-CN" sz="2000" b="1">
                <a:solidFill>
                  <a:srgbClr val="1F2328"/>
                </a:solidFill>
                <a:latin typeface="Microsoft YaHei" panose="020B0503020204020204" pitchFamily="34" charset="-122"/>
              </a:rPr>
              <a:t>motif</a:t>
            </a:r>
            <a:r>
              <a:rPr lang="zh-CN" altLang="en-US" sz="2000" b="1">
                <a:solidFill>
                  <a:srgbClr val="1F232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3D6A60F-8332-27CC-C704-AEC8E7443F27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02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367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BBF423-71DA-8571-E8D2-6CB4317BCF6D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4C7983-951F-92BE-96D5-105B011C2885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Attribution</a:t>
            </a:r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：把来源、用途和改动写清楚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59E87D-6086-4280-4994-C412897DA1A2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30AB39-8AA5-C510-E626-7DACA1E9DAE8}"/>
              </a:ext>
            </a:extLst>
          </p:cNvPr>
          <p:cNvSpPr txBox="1"/>
          <p:nvPr/>
        </p:nvSpPr>
        <p:spPr>
          <a:xfrm>
            <a:off x="736600" y="1943100"/>
            <a:ext cx="33020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2000" b="1">
                <a:solidFill>
                  <a:srgbClr val="C96725"/>
                </a:solidFill>
                <a:latin typeface="Microsoft YaHei" panose="020B0503020204020204" pitchFamily="34" charset="-122"/>
              </a:rPr>
              <a:t>我们自主完成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A2431C-BBDB-3BD3-1F74-C393696503BC}"/>
              </a:ext>
            </a:extLst>
          </p:cNvPr>
          <p:cNvSpPr txBox="1"/>
          <p:nvPr/>
        </p:nvSpPr>
        <p:spPr>
          <a:xfrm>
            <a:off x="736600" y="2413000"/>
            <a:ext cx="4826000" cy="138243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motif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固定与条件补全任务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序列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结构联合候选排序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RNA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原子槽位与几何约束组合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数据泄漏审计、训练和推理流程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D75D8C-004D-3E2D-DD7C-033FE4956DE7}"/>
              </a:ext>
            </a:extLst>
          </p:cNvPr>
          <p:cNvSpPr txBox="1"/>
          <p:nvPr/>
        </p:nvSpPr>
        <p:spPr>
          <a:xfrm>
            <a:off x="6477000" y="1943100"/>
            <a:ext cx="33020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2000" b="1">
                <a:solidFill>
                  <a:srgbClr val="C96725"/>
                </a:solidFill>
                <a:latin typeface="Microsoft YaHei" panose="020B0503020204020204" pitchFamily="34" charset="-122"/>
              </a:rPr>
              <a:t>借鉴并适配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A6B5AE-F237-9BF8-192D-10C8D71BF3E1}"/>
              </a:ext>
            </a:extLst>
          </p:cNvPr>
          <p:cNvSpPr txBox="1"/>
          <p:nvPr/>
        </p:nvSpPr>
        <p:spPr>
          <a:xfrm>
            <a:off x="6477000" y="2413000"/>
            <a:ext cx="4953000" cy="138243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Transformer / BERT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：序列表示与 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Mask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AlphaFold2 / RhoFold+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Pair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IPA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FAPE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NeRF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：内坐标到笛卡尔坐标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RNA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构象、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Kabsch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lDDT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MolProbity</a:t>
            </a:r>
            <a:endParaRPr lang="zh-CN" altLang="en-US" sz="1600">
              <a:solidFill>
                <a:srgbClr val="1F23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58BC6F-AC97-67BD-20AA-7025F5345E86}"/>
              </a:ext>
            </a:extLst>
          </p:cNvPr>
          <p:cNvSpPr txBox="1"/>
          <p:nvPr/>
        </p:nvSpPr>
        <p:spPr>
          <a:xfrm>
            <a:off x="736600" y="5727700"/>
            <a:ext cx="10668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B95648"/>
                </a:solidFill>
                <a:latin typeface="Microsoft YaHei" panose="020B0503020204020204" pitchFamily="34" charset="-122"/>
              </a:rPr>
              <a:t>表述原则：</a:t>
            </a:r>
            <a:r>
              <a:rPr lang="en-US" altLang="zh-CN" sz="1500" b="1">
                <a:solidFill>
                  <a:srgbClr val="B95648"/>
                </a:solidFill>
                <a:latin typeface="Microsoft YaHei" panose="020B0503020204020204" pitchFamily="34" charset="-122"/>
              </a:rPr>
              <a:t>inspired by / adapted from / implemented based on</a:t>
            </a:r>
            <a:r>
              <a:rPr lang="zh-CN" altLang="en-US" sz="1500" b="1">
                <a:solidFill>
                  <a:srgbClr val="B95648"/>
                </a:solidFill>
                <a:latin typeface="Microsoft YaHei" panose="020B0503020204020204" pitchFamily="34" charset="-122"/>
              </a:rPr>
              <a:t>；不把已有方法写成自主发明。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A7C475-0F81-EE7D-616B-1C77503B900A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03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9874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9ED475-0539-D2B9-3880-C4FF5C122396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B602B4-F075-4944-886D-6EFE9CFE3AE0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Attribution </a:t>
            </a:r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还包括工具、数据和人员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C66F3E-3004-59BC-64D3-6B81C568DBB3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DFD150-2DE3-B478-31FC-69EE9FC78E08}"/>
              </a:ext>
            </a:extLst>
          </p:cNvPr>
          <p:cNvSpPr txBox="1"/>
          <p:nvPr/>
        </p:nvSpPr>
        <p:spPr>
          <a:xfrm>
            <a:off x="1092200" y="2006600"/>
            <a:ext cx="10033000" cy="189795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数据：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wwPDB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PDBx/mmCIF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Chemical Component Dictionary</a:t>
            </a:r>
          </a:p>
          <a:p>
            <a:pPr>
              <a:spcAft>
                <a:spcPts val="900"/>
              </a:spcAft>
            </a:pP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软件：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PyTorch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CUDA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NumPy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Biopython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W&amp;B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Git/GitHub</a:t>
            </a:r>
          </a:p>
          <a:p>
            <a:pPr>
              <a:spcAft>
                <a:spcPts val="900"/>
              </a:spcAft>
            </a:pP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可视化与外部服务：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PyMOL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ChimeraX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AlphaFold Server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（如实际使用）</a:t>
            </a:r>
          </a:p>
          <a:p>
            <a:pPr>
              <a:spcAft>
                <a:spcPts val="900"/>
              </a:spcAft>
            </a:pP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算力与人员：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服务器提供者、指导老师、湿实验协作者</a:t>
            </a:r>
          </a:p>
          <a:p>
            <a:pPr>
              <a:spcAft>
                <a:spcPts val="900"/>
              </a:spcAft>
            </a:pP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• AI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辅助：记录用于代码检查、调试和文档整理的范围；科学判断由团队复核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7DE2C8C-16A1-CD19-13D3-B6ADDB808950}"/>
              </a:ext>
            </a:extLst>
          </p:cNvPr>
          <p:cNvSpPr/>
          <p:nvPr/>
        </p:nvSpPr>
        <p:spPr>
          <a:xfrm>
            <a:off x="1092200" y="5562600"/>
            <a:ext cx="10033000" cy="60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D5B816-105F-0244-3520-8296ABC3E354}"/>
              </a:ext>
            </a:extLst>
          </p:cNvPr>
          <p:cNvSpPr txBox="1"/>
          <p:nvPr/>
        </p:nvSpPr>
        <p:spPr>
          <a:xfrm>
            <a:off x="1295400" y="5727700"/>
            <a:ext cx="9652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建议交付：</a:t>
            </a:r>
            <a:r>
              <a:rPr lang="en-US" altLang="zh-CN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Attribution </a:t>
            </a:r>
            <a:r>
              <a:rPr lang="zh-CN" altLang="en-US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表 </a:t>
            </a:r>
            <a:r>
              <a:rPr lang="en-US" altLang="zh-CN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= </a:t>
            </a:r>
            <a:r>
              <a:rPr lang="zh-CN" altLang="en-US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来源｜版本</a:t>
            </a:r>
            <a:r>
              <a:rPr lang="en-US" altLang="zh-CN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链接｜用途｜我们的修改｜负责人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7BFF7C-ABE5-E9DC-A847-E437BE578400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04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2885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B0C399-0284-1AB8-9B63-D1B910D98CC6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5F0E46-7858-E2B3-0CD4-D71CE346E631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Contribution 1</a:t>
            </a:r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motif </a:t>
            </a:r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条件生成</a:t>
            </a:r>
            <a:r>
              <a:rPr lang="en-US" altLang="zh-CN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折叠一体化流水线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924039-B54F-755B-9214-B57C67240F95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C666B0-B7EC-8CBA-6498-15865C607041}"/>
              </a:ext>
            </a:extLst>
          </p:cNvPr>
          <p:cNvSpPr txBox="1"/>
          <p:nvPr/>
        </p:nvSpPr>
        <p:spPr>
          <a:xfrm>
            <a:off x="736600" y="2032000"/>
            <a:ext cx="6477000" cy="189795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输入不必是完整序列：短 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motif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作为不可修改条件</a:t>
            </a:r>
          </a:p>
          <a:p>
            <a:pPr>
              <a:spcAft>
                <a:spcPts val="900"/>
              </a:spcAft>
            </a:pP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批量生成多个候选，并保留 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motif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位置与约束</a:t>
            </a:r>
          </a:p>
          <a:p>
            <a:pPr>
              <a:spcAft>
                <a:spcPts val="900"/>
              </a:spcAft>
            </a:pP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对每个候选执行全原子三维预测</a:t>
            </a:r>
          </a:p>
          <a:p>
            <a:pPr>
              <a:spcAft>
                <a:spcPts val="900"/>
              </a:spcAft>
            </a:pP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联合序列概率、结构置信度和化学合理性排序</a:t>
            </a:r>
          </a:p>
          <a:p>
            <a:pPr>
              <a:spcAft>
                <a:spcPts val="900"/>
              </a:spcAft>
            </a:pP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FASTA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JSON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PT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1F2328"/>
                </a:solidFill>
                <a:latin typeface="Microsoft YaHei" panose="020B0503020204020204" pitchFamily="34" charset="-122"/>
              </a:rPr>
              <a:t>PDB </a:t>
            </a:r>
            <a:r>
              <a:rPr lang="zh-CN" altLang="en-US">
                <a:solidFill>
                  <a:srgbClr val="1F2328"/>
                </a:solidFill>
                <a:latin typeface="Microsoft YaHei" panose="020B0503020204020204" pitchFamily="34" charset="-122"/>
              </a:rPr>
              <a:t>与可审计排名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98B33C7-BA16-6D53-1056-FB830C0B2425}"/>
              </a:ext>
            </a:extLst>
          </p:cNvPr>
          <p:cNvSpPr/>
          <p:nvPr/>
        </p:nvSpPr>
        <p:spPr>
          <a:xfrm>
            <a:off x="7937500" y="2222500"/>
            <a:ext cx="3302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0F718D-3DE7-0CAB-7B97-13211A358990}"/>
              </a:ext>
            </a:extLst>
          </p:cNvPr>
          <p:cNvSpPr txBox="1"/>
          <p:nvPr/>
        </p:nvSpPr>
        <p:spPr>
          <a:xfrm>
            <a:off x="8255000" y="2514600"/>
            <a:ext cx="266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b="1">
                <a:solidFill>
                  <a:srgbClr val="C96725"/>
                </a:solidFill>
                <a:latin typeface="Microsoft YaHei" panose="020B0503020204020204" pitchFamily="34" charset="-122"/>
              </a:rPr>
              <a:t>可复用接口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2C2EFB-EAFC-32C0-B84E-E05FFEBB90F6}"/>
              </a:ext>
            </a:extLst>
          </p:cNvPr>
          <p:cNvSpPr txBox="1"/>
          <p:nvPr/>
        </p:nvSpPr>
        <p:spPr>
          <a:xfrm>
            <a:off x="8255000" y="3175000"/>
            <a:ext cx="2667000" cy="11387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pt-BR" altLang="zh-CN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predict.py`r--motif AUGGAC`r--num-candidates 32`r--output results/</a:t>
            </a:r>
            <a:endParaRPr lang="zh-CN" altLang="en-US" sz="1700" b="1">
              <a:solidFill>
                <a:srgbClr val="1F23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F11E4C-6C1B-AEE8-8AD8-82661D63DD1A}"/>
              </a:ext>
            </a:extLst>
          </p:cNvPr>
          <p:cNvSpPr txBox="1"/>
          <p:nvPr/>
        </p:nvSpPr>
        <p:spPr>
          <a:xfrm>
            <a:off x="7937500" y="5143500"/>
            <a:ext cx="3302000" cy="5129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500">
                <a:solidFill>
                  <a:srgbClr val="636A71"/>
                </a:solidFill>
                <a:latin typeface="Microsoft YaHei" panose="020B0503020204020204" pitchFamily="34" charset="-122"/>
              </a:rPr>
              <a:t>未来队伍可以直接替换 </a:t>
            </a:r>
            <a:r>
              <a:rPr lang="en-US" altLang="zh-CN" sz="1500">
                <a:solidFill>
                  <a:srgbClr val="636A71"/>
                </a:solidFill>
                <a:latin typeface="Microsoft YaHei" panose="020B0503020204020204" pitchFamily="34" charset="-122"/>
              </a:rPr>
              <a:t>motif</a:t>
            </a:r>
            <a:r>
              <a:rPr lang="zh-CN" altLang="en-US" sz="1500">
                <a:solidFill>
                  <a:srgbClr val="636A71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636A71"/>
                </a:solidFill>
                <a:latin typeface="Microsoft YaHei" panose="020B0503020204020204" pitchFamily="34" charset="-122"/>
              </a:rPr>
              <a:t>checkpoint </a:t>
            </a:r>
            <a:r>
              <a:rPr lang="zh-CN" altLang="en-US" sz="1500">
                <a:solidFill>
                  <a:srgbClr val="636A71"/>
                </a:solidFill>
                <a:latin typeface="Microsoft YaHei" panose="020B0503020204020204" pitchFamily="34" charset="-122"/>
              </a:rPr>
              <a:t>或排序规则。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53243B-92B5-8385-07B9-105F68A9DA68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05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740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5C25BD5-0E65-8B82-703A-BC60B7B0B2DD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A54845-9F0A-AB66-CE7F-8549F0B29C90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Contribution 2</a:t>
            </a:r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：可审计的 </a:t>
            </a:r>
            <a:r>
              <a:rPr lang="en-US" altLang="zh-CN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RNA 3D </a:t>
            </a:r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训练框架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02D4A5-9F53-EBA4-A634-843C3DED765C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033B74-EDA7-F596-AAF9-FC21FE4E05F5}"/>
              </a:ext>
            </a:extLst>
          </p:cNvPr>
          <p:cNvSpPr txBox="1"/>
          <p:nvPr/>
        </p:nvSpPr>
        <p:spPr>
          <a:xfrm>
            <a:off x="787400" y="1981200"/>
            <a:ext cx="266700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900" b="1">
                <a:solidFill>
                  <a:srgbClr val="C96725"/>
                </a:solidFill>
                <a:latin typeface="Microsoft YaHei" panose="020B0503020204020204" pitchFamily="34" charset="-122"/>
              </a:rPr>
              <a:t>数据层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47E8D0-5A24-E49A-B34C-B8B1392AA323}"/>
              </a:ext>
            </a:extLst>
          </p:cNvPr>
          <p:cNvSpPr txBox="1"/>
          <p:nvPr/>
        </p:nvSpPr>
        <p:spPr>
          <a:xfrm>
            <a:off x="787400" y="2463800"/>
            <a:ext cx="3048000" cy="102079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mmCIF/CCD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解析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修饰残基标准化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holdout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与相似性审计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F403B64-C5F7-35F7-43A5-0D09C264C491}"/>
              </a:ext>
            </a:extLst>
          </p:cNvPr>
          <p:cNvSpPr txBox="1"/>
          <p:nvPr/>
        </p:nvSpPr>
        <p:spPr>
          <a:xfrm>
            <a:off x="4508500" y="1981200"/>
            <a:ext cx="266700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900" b="1">
                <a:solidFill>
                  <a:srgbClr val="C96725"/>
                </a:solidFill>
                <a:latin typeface="Microsoft YaHei" panose="020B0503020204020204" pitchFamily="34" charset="-122"/>
              </a:rPr>
              <a:t>模型层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27ADB3B-ECC9-EEAC-3F1E-BE90C51DEE81}"/>
              </a:ext>
            </a:extLst>
          </p:cNvPr>
          <p:cNvSpPr txBox="1"/>
          <p:nvPr/>
        </p:nvSpPr>
        <p:spPr>
          <a:xfrm>
            <a:off x="4508500" y="2463800"/>
            <a:ext cx="3048000" cy="102079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Sequence/Pair/IPA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RNA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扭转角与全原子重建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多任务几何损失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B3E8C1-41EE-B0A1-6782-6C191BFBE5A8}"/>
              </a:ext>
            </a:extLst>
          </p:cNvPr>
          <p:cNvSpPr txBox="1"/>
          <p:nvPr/>
        </p:nvSpPr>
        <p:spPr>
          <a:xfrm>
            <a:off x="8255000" y="1981200"/>
            <a:ext cx="266700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900" b="1">
                <a:solidFill>
                  <a:srgbClr val="C96725"/>
                </a:solidFill>
                <a:latin typeface="Microsoft YaHei" panose="020B0503020204020204" pitchFamily="34" charset="-122"/>
              </a:rPr>
              <a:t>复现层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4DADBF-5CCF-A038-868F-D739ABEE5155}"/>
              </a:ext>
            </a:extLst>
          </p:cNvPr>
          <p:cNvSpPr txBox="1"/>
          <p:nvPr/>
        </p:nvSpPr>
        <p:spPr>
          <a:xfrm>
            <a:off x="8255000" y="2463800"/>
            <a:ext cx="3048000" cy="102079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固定配置、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seed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commit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PID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、日志、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checkpoint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模型卡与推理示例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CCB76A-50B1-281F-A4DB-719A28952A39}"/>
              </a:ext>
            </a:extLst>
          </p:cNvPr>
          <p:cNvSpPr txBox="1"/>
          <p:nvPr/>
        </p:nvSpPr>
        <p:spPr>
          <a:xfrm>
            <a:off x="914400" y="5067300"/>
            <a:ext cx="10414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b="1">
                <a:solidFill>
                  <a:srgbClr val="1F2328"/>
                </a:solidFill>
                <a:latin typeface="Microsoft YaHei" panose="020B0503020204020204" pitchFamily="34" charset="-122"/>
              </a:rPr>
              <a:t>当前数据审计：</a:t>
            </a:r>
            <a:r>
              <a:rPr lang="en-US" altLang="zh-CN" b="1">
                <a:solidFill>
                  <a:srgbClr val="1F2328"/>
                </a:solidFill>
                <a:latin typeface="Microsoft YaHei" panose="020B0503020204020204" pitchFamily="34" charset="-122"/>
              </a:rPr>
              <a:t>1,807 </a:t>
            </a:r>
            <a:r>
              <a:rPr lang="zh-CN" altLang="en-US" b="1">
                <a:solidFill>
                  <a:srgbClr val="1F2328"/>
                </a:solidFill>
                <a:latin typeface="Microsoft YaHei" panose="020B0503020204020204" pitchFamily="34" charset="-122"/>
              </a:rPr>
              <a:t>条可用 </a:t>
            </a:r>
            <a:r>
              <a:rPr lang="en-US" altLang="zh-CN" b="1">
                <a:solidFill>
                  <a:srgbClr val="1F2328"/>
                </a:solidFill>
                <a:latin typeface="Microsoft YaHei" panose="020B0503020204020204" pitchFamily="34" charset="-122"/>
              </a:rPr>
              <a:t>RNA</a:t>
            </a:r>
            <a:r>
              <a:rPr lang="zh-CN" altLang="en-US" b="1">
                <a:solidFill>
                  <a:srgbClr val="1F232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b="1">
                <a:solidFill>
                  <a:srgbClr val="1F2328"/>
                </a:solidFill>
                <a:latin typeface="Microsoft YaHei" panose="020B0503020204020204" pitchFamily="34" charset="-122"/>
              </a:rPr>
              <a:t>train 1,717</a:t>
            </a:r>
            <a:r>
              <a:rPr lang="zh-CN" altLang="en-US" b="1">
                <a:solidFill>
                  <a:srgbClr val="1F2328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b="1">
                <a:solidFill>
                  <a:srgbClr val="1F2328"/>
                </a:solidFill>
                <a:latin typeface="Microsoft YaHei" panose="020B0503020204020204" pitchFamily="34" charset="-122"/>
              </a:rPr>
              <a:t>validation 90</a:t>
            </a:r>
            <a:r>
              <a:rPr lang="zh-CN" altLang="en-US" b="1">
                <a:solidFill>
                  <a:srgbClr val="1F2328"/>
                </a:solidFill>
                <a:latin typeface="Microsoft YaHei" panose="020B0503020204020204" pitchFamily="34" charset="-122"/>
              </a:rPr>
              <a:t>；完全相同序列跨集合重叠为 </a:t>
            </a:r>
            <a:r>
              <a:rPr lang="en-US" altLang="zh-CN" b="1">
                <a:solidFill>
                  <a:srgbClr val="1F2328"/>
                </a:solidFill>
                <a:latin typeface="Microsoft YaHei" panose="020B0503020204020204" pitchFamily="34" charset="-122"/>
              </a:rPr>
              <a:t>0</a:t>
            </a:r>
            <a:r>
              <a:rPr lang="zh-CN" altLang="en-US" b="1">
                <a:solidFill>
                  <a:srgbClr val="1F232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5F5E721-ABEE-4CD4-F5C2-9AF5E23E3E6F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06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508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08C3CF-737A-B42A-C471-1DA881241A53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973FCA-A8F8-D86F-565B-74A5745C4743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Engineering</a:t>
            </a:r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：用 </a:t>
            </a:r>
            <a:r>
              <a:rPr lang="en-US" altLang="zh-CN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Design–Build–Test–Learn </a:t>
            </a:r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组织证据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6CB253-CF45-6C47-1C4B-2D26AEB8377B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6D577C4-A6E9-F624-A24D-D390630720D0}"/>
              </a:ext>
            </a:extLst>
          </p:cNvPr>
          <p:cNvSpPr/>
          <p:nvPr/>
        </p:nvSpPr>
        <p:spPr>
          <a:xfrm>
            <a:off x="698500" y="2222500"/>
            <a:ext cx="2413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5195DF-DAD5-2A09-D601-E38706F288FE}"/>
              </a:ext>
            </a:extLst>
          </p:cNvPr>
          <p:cNvSpPr txBox="1"/>
          <p:nvPr/>
        </p:nvSpPr>
        <p:spPr>
          <a:xfrm>
            <a:off x="889000" y="25146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zh-CN" b="1">
                <a:solidFill>
                  <a:srgbClr val="C96725"/>
                </a:solidFill>
                <a:latin typeface="Microsoft YaHei" panose="020B0503020204020204" pitchFamily="34" charset="-122"/>
              </a:rPr>
              <a:t>DESIGN</a:t>
            </a:r>
            <a:endParaRPr lang="zh-CN" altLang="en-US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DC51EC-557F-C526-BAE2-7FFDF796C059}"/>
              </a:ext>
            </a:extLst>
          </p:cNvPr>
          <p:cNvSpPr txBox="1"/>
          <p:nvPr/>
        </p:nvSpPr>
        <p:spPr>
          <a:xfrm>
            <a:off x="939800" y="3175000"/>
            <a:ext cx="19304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定义问题、假设、限制与验收标准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3796B1-8A68-F853-9650-B2C81F1A3CF6}"/>
              </a:ext>
            </a:extLst>
          </p:cNvPr>
          <p:cNvSpPr txBox="1"/>
          <p:nvPr/>
        </p:nvSpPr>
        <p:spPr>
          <a:xfrm>
            <a:off x="3136900" y="3175000"/>
            <a:ext cx="4064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C96725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B44D549-3012-D15E-5638-0CA53E91E5DE}"/>
              </a:ext>
            </a:extLst>
          </p:cNvPr>
          <p:cNvSpPr/>
          <p:nvPr/>
        </p:nvSpPr>
        <p:spPr>
          <a:xfrm>
            <a:off x="3556000" y="2222500"/>
            <a:ext cx="2413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A6ABAB-8587-A0F2-2E0E-744A2EE648A0}"/>
              </a:ext>
            </a:extLst>
          </p:cNvPr>
          <p:cNvSpPr txBox="1"/>
          <p:nvPr/>
        </p:nvSpPr>
        <p:spPr>
          <a:xfrm>
            <a:off x="3746500" y="25146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zh-CN" b="1">
                <a:solidFill>
                  <a:srgbClr val="C96725"/>
                </a:solidFill>
                <a:latin typeface="Microsoft YaHei" panose="020B0503020204020204" pitchFamily="34" charset="-122"/>
              </a:rPr>
              <a:t>BUILD</a:t>
            </a:r>
            <a:endParaRPr lang="zh-CN" altLang="en-US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34C408-9193-8E38-36CD-B29814359BE7}"/>
              </a:ext>
            </a:extLst>
          </p:cNvPr>
          <p:cNvSpPr txBox="1"/>
          <p:nvPr/>
        </p:nvSpPr>
        <p:spPr>
          <a:xfrm>
            <a:off x="3797300" y="3175000"/>
            <a:ext cx="19304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实现数据、网络、损失与输出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AB48FD-5DC9-29FD-FC3B-735DD863CDF6}"/>
              </a:ext>
            </a:extLst>
          </p:cNvPr>
          <p:cNvSpPr txBox="1"/>
          <p:nvPr/>
        </p:nvSpPr>
        <p:spPr>
          <a:xfrm>
            <a:off x="5994400" y="3175000"/>
            <a:ext cx="4064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C96725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3AEDA4B-7CA2-95E1-5954-9D3DF0C8A741}"/>
              </a:ext>
            </a:extLst>
          </p:cNvPr>
          <p:cNvSpPr/>
          <p:nvPr/>
        </p:nvSpPr>
        <p:spPr>
          <a:xfrm>
            <a:off x="6413500" y="2222500"/>
            <a:ext cx="2413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F448CEC-A6F0-8551-D5A2-C7674F50E3C6}"/>
              </a:ext>
            </a:extLst>
          </p:cNvPr>
          <p:cNvSpPr txBox="1"/>
          <p:nvPr/>
        </p:nvSpPr>
        <p:spPr>
          <a:xfrm>
            <a:off x="6604000" y="25146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zh-CN" b="1">
                <a:solidFill>
                  <a:srgbClr val="C96725"/>
                </a:solidFill>
                <a:latin typeface="Microsoft YaHei" panose="020B0503020204020204" pitchFamily="34" charset="-122"/>
              </a:rPr>
              <a:t>TEST</a:t>
            </a:r>
            <a:endParaRPr lang="zh-CN" altLang="en-US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BE766D-6719-01AB-CFC2-B3F55055D8BB}"/>
              </a:ext>
            </a:extLst>
          </p:cNvPr>
          <p:cNvSpPr txBox="1"/>
          <p:nvPr/>
        </p:nvSpPr>
        <p:spPr>
          <a:xfrm>
            <a:off x="6654800" y="3175000"/>
            <a:ext cx="19304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用独立数据和故障实验验证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FBF09A6-834C-83FA-7961-FC2901526994}"/>
              </a:ext>
            </a:extLst>
          </p:cNvPr>
          <p:cNvSpPr txBox="1"/>
          <p:nvPr/>
        </p:nvSpPr>
        <p:spPr>
          <a:xfrm>
            <a:off x="8851900" y="3175000"/>
            <a:ext cx="4064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C96725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7DC3BC3-1978-A2F9-898D-4EC6C8F1EA07}"/>
              </a:ext>
            </a:extLst>
          </p:cNvPr>
          <p:cNvSpPr/>
          <p:nvPr/>
        </p:nvSpPr>
        <p:spPr>
          <a:xfrm>
            <a:off x="9271000" y="2222500"/>
            <a:ext cx="2413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6FC0D35-6875-88BD-0712-6CA00D7DC330}"/>
              </a:ext>
            </a:extLst>
          </p:cNvPr>
          <p:cNvSpPr txBox="1"/>
          <p:nvPr/>
        </p:nvSpPr>
        <p:spPr>
          <a:xfrm>
            <a:off x="9461500" y="2514600"/>
            <a:ext cx="203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zh-CN" b="1">
                <a:solidFill>
                  <a:srgbClr val="C96725"/>
                </a:solidFill>
                <a:latin typeface="Microsoft YaHei" panose="020B0503020204020204" pitchFamily="34" charset="-122"/>
              </a:rPr>
              <a:t>LEARN</a:t>
            </a:r>
            <a:endParaRPr lang="zh-CN" altLang="en-US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13168A-0BF0-4750-B6D0-CF4DD68F2017}"/>
              </a:ext>
            </a:extLst>
          </p:cNvPr>
          <p:cNvSpPr txBox="1"/>
          <p:nvPr/>
        </p:nvSpPr>
        <p:spPr>
          <a:xfrm>
            <a:off x="9512300" y="3175000"/>
            <a:ext cx="1930400" cy="5437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根据证据修改配置与方法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01A300-0AF2-9679-4F0A-4A8D68838BE9}"/>
              </a:ext>
            </a:extLst>
          </p:cNvPr>
          <p:cNvSpPr txBox="1"/>
          <p:nvPr/>
        </p:nvSpPr>
        <p:spPr>
          <a:xfrm>
            <a:off x="889000" y="5334000"/>
            <a:ext cx="1041400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900" b="1">
                <a:solidFill>
                  <a:srgbClr val="B95648"/>
                </a:solidFill>
                <a:latin typeface="Microsoft YaHei" panose="020B0503020204020204" pitchFamily="34" charset="-122"/>
              </a:rPr>
              <a:t>失败数据同样是工程证据：必须记录现象、根因、修改和复验结果。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4A9AEC-EF1A-ED42-AB0C-DFD148D749C4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07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320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319BC8-003A-7193-F401-0230970E9541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255643-7B33-3829-1AA8-8893B5E20B2D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失败不是附录：它说明系统如何变得可靠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ACE1BF-052E-5C7F-AFF4-179B9BB89A00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4AC583-F710-1B2A-6CA3-E177D91DA77C}"/>
              </a:ext>
            </a:extLst>
          </p:cNvPr>
          <p:cNvSpPr txBox="1"/>
          <p:nvPr/>
        </p:nvSpPr>
        <p:spPr>
          <a:xfrm>
            <a:off x="711200" y="1905000"/>
            <a:ext cx="3175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700" b="1">
                <a:solidFill>
                  <a:srgbClr val="C96725"/>
                </a:solidFill>
                <a:latin typeface="Microsoft YaHei" panose="020B0503020204020204" pitchFamily="34" charset="-122"/>
              </a:rPr>
              <a:t>现象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764E7F-F1BB-AF29-103F-02A95E841E31}"/>
              </a:ext>
            </a:extLst>
          </p:cNvPr>
          <p:cNvSpPr txBox="1"/>
          <p:nvPr/>
        </p:nvSpPr>
        <p:spPr>
          <a:xfrm>
            <a:off x="4318000" y="1905000"/>
            <a:ext cx="3429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700" b="1">
                <a:solidFill>
                  <a:srgbClr val="C96725"/>
                </a:solidFill>
                <a:latin typeface="Microsoft YaHei" panose="020B0503020204020204" pitchFamily="34" charset="-122"/>
              </a:rPr>
              <a:t>修改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AC5587-5A05-A305-7382-3D3F4F1E0974}"/>
              </a:ext>
            </a:extLst>
          </p:cNvPr>
          <p:cNvSpPr txBox="1"/>
          <p:nvPr/>
        </p:nvSpPr>
        <p:spPr>
          <a:xfrm>
            <a:off x="8318500" y="1905000"/>
            <a:ext cx="3302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700" b="1">
                <a:solidFill>
                  <a:srgbClr val="C96725"/>
                </a:solidFill>
                <a:latin typeface="Microsoft YaHei" panose="020B0503020204020204" pitchFamily="34" charset="-122"/>
              </a:rPr>
              <a:t>复验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7EAF7A5-E0ED-A8BF-1E9E-5325B98FE3F2}"/>
              </a:ext>
            </a:extLst>
          </p:cNvPr>
          <p:cNvSpPr/>
          <p:nvPr/>
        </p:nvSpPr>
        <p:spPr>
          <a:xfrm>
            <a:off x="635000" y="2413000"/>
            <a:ext cx="11049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CD2F99-81FA-C571-152E-EBA3E7862522}"/>
              </a:ext>
            </a:extLst>
          </p:cNvPr>
          <p:cNvSpPr txBox="1"/>
          <p:nvPr/>
        </p:nvSpPr>
        <p:spPr>
          <a:xfrm>
            <a:off x="838200" y="2578100"/>
            <a:ext cx="31115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500" b="1">
                <a:solidFill>
                  <a:srgbClr val="1F2328"/>
                </a:solidFill>
                <a:latin typeface="Microsoft YaHei" panose="020B0503020204020204" pitchFamily="34" charset="-122"/>
              </a:rPr>
              <a:t>BF16 SVD </a:t>
            </a:r>
            <a:r>
              <a:rPr lang="zh-CN" altLang="en-US" sz="1500" b="1">
                <a:solidFill>
                  <a:srgbClr val="1F2328"/>
                </a:solidFill>
                <a:latin typeface="Microsoft YaHei" panose="020B0503020204020204" pitchFamily="34" charset="-122"/>
              </a:rPr>
              <a:t>失败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C6E355-A785-DD26-BBD4-8CFEE319BD32}"/>
              </a:ext>
            </a:extLst>
          </p:cNvPr>
          <p:cNvSpPr txBox="1"/>
          <p:nvPr/>
        </p:nvSpPr>
        <p:spPr>
          <a:xfrm>
            <a:off x="4318000" y="2578100"/>
            <a:ext cx="355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500">
                <a:solidFill>
                  <a:srgbClr val="1F2328"/>
                </a:solidFill>
                <a:latin typeface="Microsoft YaHei" panose="020B0503020204020204" pitchFamily="34" charset="-122"/>
              </a:rPr>
              <a:t>Kabsch </a:t>
            </a:r>
            <a:r>
              <a:rPr lang="zh-CN" altLang="en-US" sz="1500">
                <a:solidFill>
                  <a:srgbClr val="1F2328"/>
                </a:solidFill>
                <a:latin typeface="Microsoft YaHei" panose="020B0503020204020204" pitchFamily="34" charset="-122"/>
              </a:rPr>
              <a:t>内部转 </a:t>
            </a:r>
            <a:r>
              <a:rPr lang="en-US" altLang="zh-CN" sz="1500">
                <a:solidFill>
                  <a:srgbClr val="1F2328"/>
                </a:solidFill>
                <a:latin typeface="Microsoft YaHei" panose="020B0503020204020204" pitchFamily="34" charset="-122"/>
              </a:rPr>
              <a:t>FP32</a:t>
            </a:r>
            <a:endParaRPr lang="zh-CN" altLang="en-US" sz="1500">
              <a:solidFill>
                <a:srgbClr val="1F23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14CF1AF-FA9D-36B5-9F04-8F4719AEDC79}"/>
              </a:ext>
            </a:extLst>
          </p:cNvPr>
          <p:cNvSpPr txBox="1"/>
          <p:nvPr/>
        </p:nvSpPr>
        <p:spPr>
          <a:xfrm>
            <a:off x="8318500" y="2578100"/>
            <a:ext cx="31115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500">
                <a:solidFill>
                  <a:srgbClr val="1F2328"/>
                </a:solidFill>
                <a:latin typeface="Microsoft YaHei" panose="020B0503020204020204" pitchFamily="34" charset="-122"/>
              </a:rPr>
              <a:t>loss </a:t>
            </a:r>
            <a:r>
              <a:rPr lang="zh-CN" altLang="en-US" sz="1500">
                <a:solidFill>
                  <a:srgbClr val="1F2328"/>
                </a:solidFill>
                <a:latin typeface="Microsoft YaHei" panose="020B0503020204020204" pitchFamily="34" charset="-122"/>
              </a:rPr>
              <a:t>有限，</a:t>
            </a:r>
            <a:r>
              <a:rPr lang="en-US" altLang="zh-CN" sz="1500">
                <a:solidFill>
                  <a:srgbClr val="1F2328"/>
                </a:solidFill>
                <a:latin typeface="Microsoft YaHei" panose="020B0503020204020204" pitchFamily="34" charset="-122"/>
              </a:rPr>
              <a:t>gradient finite</a:t>
            </a:r>
            <a:endParaRPr lang="zh-CN" altLang="en-US" sz="1500">
              <a:solidFill>
                <a:srgbClr val="1F23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4123498-7EEA-7C7E-8383-2CD935DBDD55}"/>
              </a:ext>
            </a:extLst>
          </p:cNvPr>
          <p:cNvSpPr/>
          <p:nvPr/>
        </p:nvSpPr>
        <p:spPr>
          <a:xfrm>
            <a:off x="635000" y="3302000"/>
            <a:ext cx="11049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2DEF72-C0C7-C273-0F7E-62225DCB3995}"/>
              </a:ext>
            </a:extLst>
          </p:cNvPr>
          <p:cNvSpPr txBox="1"/>
          <p:nvPr/>
        </p:nvSpPr>
        <p:spPr>
          <a:xfrm>
            <a:off x="838200" y="3467100"/>
            <a:ext cx="31115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500" b="1">
                <a:solidFill>
                  <a:srgbClr val="1F2328"/>
                </a:solidFill>
                <a:latin typeface="Microsoft YaHei" panose="020B0503020204020204" pitchFamily="34" charset="-122"/>
              </a:rPr>
              <a:t>checkpointing </a:t>
            </a:r>
            <a:r>
              <a:rPr lang="zh-CN" altLang="en-US" sz="1500" b="1">
                <a:solidFill>
                  <a:srgbClr val="1F2328"/>
                </a:solidFill>
                <a:latin typeface="Microsoft YaHei" panose="020B0503020204020204" pitchFamily="34" charset="-122"/>
              </a:rPr>
              <a:t>梯度异常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BD78794-E04E-6AF6-0D41-7C3442441BCE}"/>
              </a:ext>
            </a:extLst>
          </p:cNvPr>
          <p:cNvSpPr txBox="1"/>
          <p:nvPr/>
        </p:nvSpPr>
        <p:spPr>
          <a:xfrm>
            <a:off x="4318000" y="3467100"/>
            <a:ext cx="355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>
                <a:solidFill>
                  <a:srgbClr val="1F2328"/>
                </a:solidFill>
                <a:latin typeface="Microsoft YaHei" panose="020B0503020204020204" pitchFamily="34" charset="-122"/>
              </a:rPr>
              <a:t>暂时关闭 </a:t>
            </a:r>
            <a:r>
              <a:rPr lang="en-US" altLang="zh-CN" sz="1500">
                <a:solidFill>
                  <a:srgbClr val="1F2328"/>
                </a:solidFill>
                <a:latin typeface="Microsoft YaHei" panose="020B0503020204020204" pitchFamily="34" charset="-122"/>
              </a:rPr>
              <a:t>checkpointing</a:t>
            </a:r>
            <a:endParaRPr lang="zh-CN" altLang="en-US" sz="1500">
              <a:solidFill>
                <a:srgbClr val="1F23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8FFDE0-1A27-D60D-0A46-A9276B65169D}"/>
              </a:ext>
            </a:extLst>
          </p:cNvPr>
          <p:cNvSpPr txBox="1"/>
          <p:nvPr/>
        </p:nvSpPr>
        <p:spPr>
          <a:xfrm>
            <a:off x="8318500" y="3467100"/>
            <a:ext cx="31115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>
                <a:solidFill>
                  <a:srgbClr val="1F2328"/>
                </a:solidFill>
                <a:latin typeface="Microsoft YaHei" panose="020B0503020204020204" pitchFamily="34" charset="-122"/>
              </a:rPr>
              <a:t>主训练链路可运行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C4FE240-0EFA-F87A-6109-1C1A57659B35}"/>
              </a:ext>
            </a:extLst>
          </p:cNvPr>
          <p:cNvSpPr/>
          <p:nvPr/>
        </p:nvSpPr>
        <p:spPr>
          <a:xfrm>
            <a:off x="635000" y="4191000"/>
            <a:ext cx="11049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F5CB8A-1025-61A7-E3E0-B941BC91F21A}"/>
              </a:ext>
            </a:extLst>
          </p:cNvPr>
          <p:cNvSpPr txBox="1"/>
          <p:nvPr/>
        </p:nvSpPr>
        <p:spPr>
          <a:xfrm>
            <a:off x="838200" y="4356100"/>
            <a:ext cx="31115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500" b="1">
                <a:solidFill>
                  <a:srgbClr val="1F2328"/>
                </a:solidFill>
                <a:latin typeface="Microsoft YaHei" panose="020B0503020204020204" pitchFamily="34" charset="-122"/>
              </a:rPr>
              <a:t>crop 384 </a:t>
            </a:r>
            <a:r>
              <a:rPr lang="zh-CN" altLang="en-US" sz="1500" b="1">
                <a:solidFill>
                  <a:srgbClr val="1F2328"/>
                </a:solidFill>
                <a:latin typeface="Microsoft YaHei" panose="020B0503020204020204" pitchFamily="34" charset="-122"/>
              </a:rPr>
              <a:t>显存不足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8B5D4B-4E6D-473D-ED90-38D8E448F660}"/>
              </a:ext>
            </a:extLst>
          </p:cNvPr>
          <p:cNvSpPr txBox="1"/>
          <p:nvPr/>
        </p:nvSpPr>
        <p:spPr>
          <a:xfrm>
            <a:off x="4318000" y="4356100"/>
            <a:ext cx="355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>
                <a:solidFill>
                  <a:srgbClr val="1F2328"/>
                </a:solidFill>
                <a:latin typeface="Microsoft YaHei" panose="020B0503020204020204" pitchFamily="34" charset="-122"/>
              </a:rPr>
              <a:t>降至 </a:t>
            </a:r>
            <a:r>
              <a:rPr lang="en-US" altLang="zh-CN" sz="1500">
                <a:solidFill>
                  <a:srgbClr val="1F2328"/>
                </a:solidFill>
                <a:latin typeface="Microsoft YaHei" panose="020B0503020204020204" pitchFamily="34" charset="-122"/>
              </a:rPr>
              <a:t>256</a:t>
            </a:r>
            <a:r>
              <a:rPr lang="zh-CN" altLang="en-US" sz="1500">
                <a:solidFill>
                  <a:srgbClr val="1F2328"/>
                </a:solidFill>
                <a:latin typeface="Microsoft YaHei" panose="020B0503020204020204" pitchFamily="34" charset="-122"/>
              </a:rPr>
              <a:t>；优化 </a:t>
            </a:r>
            <a:r>
              <a:rPr lang="en-US" altLang="zh-CN" sz="1500">
                <a:solidFill>
                  <a:srgbClr val="1F2328"/>
                </a:solidFill>
                <a:latin typeface="Microsoft YaHei" panose="020B0503020204020204" pitchFamily="34" charset="-122"/>
              </a:rPr>
              <a:t>allocator</a:t>
            </a:r>
            <a:endParaRPr lang="zh-CN" altLang="en-US" sz="1500">
              <a:solidFill>
                <a:srgbClr val="1F23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B34832D-F250-F425-C114-E969A8C3F313}"/>
              </a:ext>
            </a:extLst>
          </p:cNvPr>
          <p:cNvSpPr txBox="1"/>
          <p:nvPr/>
        </p:nvSpPr>
        <p:spPr>
          <a:xfrm>
            <a:off x="8318500" y="4356100"/>
            <a:ext cx="31115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500">
                <a:solidFill>
                  <a:srgbClr val="1F2328"/>
                </a:solidFill>
                <a:latin typeface="Microsoft YaHei" panose="020B0503020204020204" pitchFamily="34" charset="-122"/>
              </a:rPr>
              <a:t>80 GB A800 </a:t>
            </a:r>
            <a:r>
              <a:rPr lang="zh-CN" altLang="en-US" sz="1500">
                <a:solidFill>
                  <a:srgbClr val="1F2328"/>
                </a:solidFill>
                <a:latin typeface="Microsoft YaHei" panose="020B0503020204020204" pitchFamily="34" charset="-122"/>
              </a:rPr>
              <a:t>稳定训练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E2DF338-DA35-7E0A-4D92-3154E5CD9721}"/>
              </a:ext>
            </a:extLst>
          </p:cNvPr>
          <p:cNvSpPr/>
          <p:nvPr/>
        </p:nvSpPr>
        <p:spPr>
          <a:xfrm>
            <a:off x="635000" y="5080000"/>
            <a:ext cx="11049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0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95152E-B7BB-E919-A87D-65D71660707A}"/>
              </a:ext>
            </a:extLst>
          </p:cNvPr>
          <p:cNvSpPr txBox="1"/>
          <p:nvPr/>
        </p:nvSpPr>
        <p:spPr>
          <a:xfrm>
            <a:off x="838200" y="5245100"/>
            <a:ext cx="31115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 b="1">
                <a:solidFill>
                  <a:srgbClr val="1F2328"/>
                </a:solidFill>
                <a:latin typeface="Microsoft YaHei" panose="020B0503020204020204" pitchFamily="34" charset="-122"/>
              </a:rPr>
              <a:t>日志被移动后显示 </a:t>
            </a:r>
            <a:r>
              <a:rPr lang="en-US" altLang="zh-CN" sz="1500" b="1">
                <a:solidFill>
                  <a:srgbClr val="1F2328"/>
                </a:solidFill>
                <a:latin typeface="Microsoft YaHei" panose="020B0503020204020204" pitchFamily="34" charset="-122"/>
              </a:rPr>
              <a:t>deleted</a:t>
            </a:r>
            <a:endParaRPr lang="zh-CN" altLang="en-US" sz="1500" b="1">
              <a:solidFill>
                <a:srgbClr val="1F23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1A00CF-06E9-E661-4A04-2EC03161E2EA}"/>
              </a:ext>
            </a:extLst>
          </p:cNvPr>
          <p:cNvSpPr txBox="1"/>
          <p:nvPr/>
        </p:nvSpPr>
        <p:spPr>
          <a:xfrm>
            <a:off x="4318000" y="5245100"/>
            <a:ext cx="355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>
                <a:solidFill>
                  <a:srgbClr val="1F2328"/>
                </a:solidFill>
                <a:latin typeface="Microsoft YaHei" panose="020B0503020204020204" pitchFamily="34" charset="-122"/>
              </a:rPr>
              <a:t>唯一 </a:t>
            </a:r>
            <a:r>
              <a:rPr lang="en-US" altLang="zh-CN" sz="1500">
                <a:solidFill>
                  <a:srgbClr val="1F2328"/>
                </a:solidFill>
                <a:latin typeface="Microsoft YaHei" panose="020B0503020204020204" pitchFamily="34" charset="-122"/>
              </a:rPr>
              <a:t>run </a:t>
            </a:r>
            <a:r>
              <a:rPr lang="zh-CN" altLang="en-US" sz="1500">
                <a:solidFill>
                  <a:srgbClr val="1F2328"/>
                </a:solidFill>
                <a:latin typeface="Microsoft YaHei" panose="020B0503020204020204" pitchFamily="34" charset="-122"/>
              </a:rPr>
              <a:t>目录与 </a:t>
            </a:r>
            <a:r>
              <a:rPr lang="en-US" altLang="zh-CN" sz="1500">
                <a:solidFill>
                  <a:srgbClr val="1F2328"/>
                </a:solidFill>
                <a:latin typeface="Microsoft YaHei" panose="020B0503020204020204" pitchFamily="34" charset="-122"/>
              </a:rPr>
              <a:t>PID/</a:t>
            </a:r>
            <a:r>
              <a:rPr lang="zh-CN" altLang="en-US" sz="1500">
                <a:solidFill>
                  <a:srgbClr val="1F2328"/>
                </a:solidFill>
                <a:latin typeface="Microsoft YaHei" panose="020B0503020204020204" pitchFamily="34" charset="-122"/>
              </a:rPr>
              <a:t>日志规范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9DAC766-5FD9-F8E6-877B-BE575763C393}"/>
              </a:ext>
            </a:extLst>
          </p:cNvPr>
          <p:cNvSpPr txBox="1"/>
          <p:nvPr/>
        </p:nvSpPr>
        <p:spPr>
          <a:xfrm>
            <a:off x="8318500" y="5245100"/>
            <a:ext cx="31115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>
                <a:solidFill>
                  <a:srgbClr val="1F2328"/>
                </a:solidFill>
                <a:latin typeface="Microsoft YaHei" panose="020B0503020204020204" pitchFamily="34" charset="-122"/>
              </a:rPr>
              <a:t>进程与产物可追踪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10A89D4-96BB-7D6D-FBEC-54C9E4169677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08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881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EDCFB3B-119A-4647-0835-E62B30A18D83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5CF99C-BE51-9AE2-9169-CAA3A3F68637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验收标准必须在看结果之前定义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BC5DE3-DDFE-6A00-45DB-97C6F1EB419C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945252-63E8-1D56-174E-6F186E0920C8}"/>
              </a:ext>
            </a:extLst>
          </p:cNvPr>
          <p:cNvSpPr txBox="1"/>
          <p:nvPr/>
        </p:nvSpPr>
        <p:spPr>
          <a:xfrm>
            <a:off x="863600" y="1841500"/>
            <a:ext cx="10541000" cy="28289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数据：无完全相同序列跨 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split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holdout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不进入训练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数值：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loss/gradient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无 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NaN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或 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Inf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；训练可恢复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补全：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motif 100%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保留；只生成合法碱基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输出：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PDB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可读取；有效残基原子完整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几何：碰撞、键长、键角、链连续性通过阈值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结构：独立集报告 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RMSD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lDDT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motif RMSD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复现：冻结数据版本、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commit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、配置、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seed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checkpoint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决策：模型排名能够改变下一批实验候选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7C62CB-8D3C-625E-8E9E-2B52A71B4282}"/>
              </a:ext>
            </a:extLst>
          </p:cNvPr>
          <p:cNvSpPr txBox="1"/>
          <p:nvPr/>
        </p:nvSpPr>
        <p:spPr>
          <a:xfrm>
            <a:off x="952500" y="5905500"/>
            <a:ext cx="10414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500" b="1">
                <a:solidFill>
                  <a:srgbClr val="B95648"/>
                </a:solidFill>
                <a:latin typeface="Microsoft YaHei" panose="020B0503020204020204" pitchFamily="34" charset="-122"/>
              </a:rPr>
              <a:t>阈值从 </a:t>
            </a:r>
            <a:r>
              <a:rPr lang="en-US" altLang="zh-CN" sz="1500" b="1">
                <a:solidFill>
                  <a:srgbClr val="B95648"/>
                </a:solidFill>
                <a:latin typeface="Microsoft YaHei" panose="020B0503020204020204" pitchFamily="34" charset="-122"/>
              </a:rPr>
              <a:t>validation </a:t>
            </a:r>
            <a:r>
              <a:rPr lang="zh-CN" altLang="en-US" sz="1500" b="1">
                <a:solidFill>
                  <a:srgbClr val="B95648"/>
                </a:solidFill>
                <a:latin typeface="Microsoft YaHei" panose="020B0503020204020204" pitchFamily="34" charset="-122"/>
              </a:rPr>
              <a:t>基线中确定后冻结，不能在看到 </a:t>
            </a:r>
            <a:r>
              <a:rPr lang="en-US" altLang="zh-CN" sz="1500" b="1">
                <a:solidFill>
                  <a:srgbClr val="B95648"/>
                </a:solidFill>
                <a:latin typeface="Microsoft YaHei" panose="020B0503020204020204" pitchFamily="34" charset="-122"/>
              </a:rPr>
              <a:t>holdout </a:t>
            </a:r>
            <a:r>
              <a:rPr lang="zh-CN" altLang="en-US" sz="1500" b="1">
                <a:solidFill>
                  <a:srgbClr val="B95648"/>
                </a:solidFill>
                <a:latin typeface="Microsoft YaHei" panose="020B0503020204020204" pitchFamily="34" charset="-122"/>
              </a:rPr>
              <a:t>结果后调整。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D45741-9E1E-CEE4-1200-39C5EABB99A9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09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8815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96E491-1933-F31C-F7CD-6884E7A1D17C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FA8B87-511B-E70F-EFED-56CD1B191D19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Measurement</a:t>
            </a:r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：先证明生成与结构本身可靠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17A478A-54EF-7A5A-C6DC-95482AA9AD1F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AEA3E4-3617-DE71-96CF-34ECE28F9CD8}"/>
              </a:ext>
            </a:extLst>
          </p:cNvPr>
          <p:cNvSpPr txBox="1"/>
          <p:nvPr/>
        </p:nvSpPr>
        <p:spPr>
          <a:xfrm>
            <a:off x="787400" y="1905000"/>
            <a:ext cx="33020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2000" b="1">
                <a:solidFill>
                  <a:srgbClr val="C96725"/>
                </a:solidFill>
                <a:latin typeface="Microsoft YaHei" panose="020B0503020204020204" pitchFamily="34" charset="-122"/>
              </a:rPr>
              <a:t>序列生成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F93025-388B-D6B8-45D8-D811E3EF87F9}"/>
              </a:ext>
            </a:extLst>
          </p:cNvPr>
          <p:cNvSpPr txBox="1"/>
          <p:nvPr/>
        </p:nvSpPr>
        <p:spPr>
          <a:xfrm>
            <a:off x="787400" y="2413000"/>
            <a:ext cx="4064000" cy="174406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motif retention rate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合法率与生成成功率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uniqueness / diversity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训练集最近邻相似度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遮盖恢复准确率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A4B1A9-ACBB-43C1-AD69-AAC470BE0746}"/>
              </a:ext>
            </a:extLst>
          </p:cNvPr>
          <p:cNvSpPr txBox="1"/>
          <p:nvPr/>
        </p:nvSpPr>
        <p:spPr>
          <a:xfrm>
            <a:off x="6413500" y="1905000"/>
            <a:ext cx="40640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2000" b="1">
                <a:solidFill>
                  <a:srgbClr val="C96725"/>
                </a:solidFill>
                <a:latin typeface="Microsoft YaHei" panose="020B0503020204020204" pitchFamily="34" charset="-122"/>
              </a:rPr>
              <a:t>三维与化学质量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C34263-063A-AEFB-0F46-3008CE176259}"/>
              </a:ext>
            </a:extLst>
          </p:cNvPr>
          <p:cNvSpPr txBox="1"/>
          <p:nvPr/>
        </p:nvSpPr>
        <p:spPr>
          <a:xfrm>
            <a:off x="6413500" y="2413000"/>
            <a:ext cx="4953000" cy="174406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Kabsch RMSD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lDDT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motif RMSD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扭转角周期误差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clash score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键长</a:t>
            </a: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键角异常率</a:t>
            </a:r>
          </a:p>
          <a:p>
            <a:pPr>
              <a:spcAft>
                <a:spcPts val="900"/>
              </a:spcAft>
            </a:pPr>
            <a:r>
              <a:rPr lang="en-US" altLang="zh-CN" sz="16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F2328"/>
                </a:solidFill>
                <a:latin typeface="Microsoft YaHei" panose="020B0503020204020204" pitchFamily="34" charset="-122"/>
              </a:rPr>
              <a:t>链断裂、核糖闭合与碱基平面性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074B26-DF93-5318-86E7-ABCE87E1137F}"/>
              </a:ext>
            </a:extLst>
          </p:cNvPr>
          <p:cNvSpPr txBox="1"/>
          <p:nvPr/>
        </p:nvSpPr>
        <p:spPr>
          <a:xfrm>
            <a:off x="1168400" y="5651500"/>
            <a:ext cx="9906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所有指标报告均值、分布和失败样本；不能只展示最好的一条结构。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EE4298-753E-604F-E3AB-999642629B15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10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5367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6B11B75-B953-81AE-EA6F-506523FADEF9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732C9F-9209-DEDC-4EF4-5D4471042FCF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最有价值的 </a:t>
            </a:r>
            <a:r>
              <a:rPr lang="en-US" altLang="zh-CN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Measurement </a:t>
            </a:r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是干湿实验闭环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FB81C0-95FE-0388-1FD1-1DB7361CF5FC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21F6DDF-32E8-84F3-BE33-0E647DBFA5B2}"/>
              </a:ext>
            </a:extLst>
          </p:cNvPr>
          <p:cNvSpPr/>
          <p:nvPr/>
        </p:nvSpPr>
        <p:spPr>
          <a:xfrm>
            <a:off x="508000" y="2603500"/>
            <a:ext cx="1905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36EDFD-747A-3295-37B5-CA4724DB97AD}"/>
              </a:ext>
            </a:extLst>
          </p:cNvPr>
          <p:cNvSpPr txBox="1"/>
          <p:nvPr/>
        </p:nvSpPr>
        <p:spPr>
          <a:xfrm>
            <a:off x="609600" y="2819400"/>
            <a:ext cx="17018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生成候选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39A7BE-7877-F6F1-81D7-D9F6B3F505BC}"/>
              </a:ext>
            </a:extLst>
          </p:cNvPr>
          <p:cNvSpPr txBox="1"/>
          <p:nvPr/>
        </p:nvSpPr>
        <p:spPr>
          <a:xfrm>
            <a:off x="609600" y="3429000"/>
            <a:ext cx="17018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636A71"/>
                </a:solidFill>
                <a:latin typeface="Microsoft YaHei" panose="020B0503020204020204" pitchFamily="34" charset="-122"/>
              </a:rPr>
              <a:t>固定 </a:t>
            </a:r>
            <a:r>
              <a:rPr lang="en-US" altLang="zh-CN" sz="1300">
                <a:solidFill>
                  <a:srgbClr val="636A71"/>
                </a:solidFill>
                <a:latin typeface="Microsoft YaHei" panose="020B0503020204020204" pitchFamily="34" charset="-122"/>
              </a:rPr>
              <a:t>motif</a:t>
            </a:r>
            <a:endParaRPr lang="zh-CN" altLang="en-US" sz="13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BE3D61-0BAF-982F-D611-2A54C272E753}"/>
              </a:ext>
            </a:extLst>
          </p:cNvPr>
          <p:cNvSpPr txBox="1"/>
          <p:nvPr/>
        </p:nvSpPr>
        <p:spPr>
          <a:xfrm>
            <a:off x="2425700" y="3111500"/>
            <a:ext cx="4064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100" b="1">
                <a:solidFill>
                  <a:srgbClr val="C96725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D78962D-A09C-0234-394D-0849FD47046B}"/>
              </a:ext>
            </a:extLst>
          </p:cNvPr>
          <p:cNvSpPr/>
          <p:nvPr/>
        </p:nvSpPr>
        <p:spPr>
          <a:xfrm>
            <a:off x="2844800" y="2603500"/>
            <a:ext cx="1905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58E863-CAC2-E1AB-8798-BCE58C690D2D}"/>
              </a:ext>
            </a:extLst>
          </p:cNvPr>
          <p:cNvSpPr txBox="1"/>
          <p:nvPr/>
        </p:nvSpPr>
        <p:spPr>
          <a:xfrm>
            <a:off x="2946400" y="2819400"/>
            <a:ext cx="17018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按模型评分分层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66AA66-EE69-1C31-9B4E-59ADBF12A6D5}"/>
              </a:ext>
            </a:extLst>
          </p:cNvPr>
          <p:cNvSpPr txBox="1"/>
          <p:nvPr/>
        </p:nvSpPr>
        <p:spPr>
          <a:xfrm>
            <a:off x="2946400" y="3429000"/>
            <a:ext cx="17018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636A71"/>
                </a:solidFill>
                <a:latin typeface="Microsoft YaHei" panose="020B0503020204020204" pitchFamily="34" charset="-122"/>
              </a:rPr>
              <a:t>高</a:t>
            </a:r>
            <a:r>
              <a:rPr lang="en-US" altLang="zh-CN" sz="1300">
                <a:solidFill>
                  <a:srgbClr val="636A71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636A71"/>
                </a:solidFill>
                <a:latin typeface="Microsoft YaHei" panose="020B0503020204020204" pitchFamily="34" charset="-122"/>
              </a:rPr>
              <a:t>中</a:t>
            </a:r>
            <a:r>
              <a:rPr lang="en-US" altLang="zh-CN" sz="1300">
                <a:solidFill>
                  <a:srgbClr val="636A71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636A71"/>
                </a:solidFill>
                <a:latin typeface="Microsoft YaHei" panose="020B0503020204020204" pitchFamily="34" charset="-122"/>
              </a:rPr>
              <a:t>低分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D3FFF4B-9114-4FBF-0B0B-83AAFEC5F2C6}"/>
              </a:ext>
            </a:extLst>
          </p:cNvPr>
          <p:cNvSpPr txBox="1"/>
          <p:nvPr/>
        </p:nvSpPr>
        <p:spPr>
          <a:xfrm>
            <a:off x="4762500" y="3111500"/>
            <a:ext cx="4064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100" b="1">
                <a:solidFill>
                  <a:srgbClr val="C96725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0223E32-FA1C-9132-85EC-7D38A9B21241}"/>
              </a:ext>
            </a:extLst>
          </p:cNvPr>
          <p:cNvSpPr/>
          <p:nvPr/>
        </p:nvSpPr>
        <p:spPr>
          <a:xfrm>
            <a:off x="5181600" y="2603500"/>
            <a:ext cx="1905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C36DE1-503D-52CB-15EA-BB3531E445D8}"/>
              </a:ext>
            </a:extLst>
          </p:cNvPr>
          <p:cNvSpPr txBox="1"/>
          <p:nvPr/>
        </p:nvSpPr>
        <p:spPr>
          <a:xfrm>
            <a:off x="5283200" y="2819400"/>
            <a:ext cx="17018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湿实验测量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0FA3DE-E98A-2BD1-1080-BE0CD43A3B64}"/>
              </a:ext>
            </a:extLst>
          </p:cNvPr>
          <p:cNvSpPr txBox="1"/>
          <p:nvPr/>
        </p:nvSpPr>
        <p:spPr>
          <a:xfrm>
            <a:off x="5283200" y="3429000"/>
            <a:ext cx="17018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636A71"/>
                </a:solidFill>
                <a:latin typeface="Microsoft YaHei" panose="020B0503020204020204" pitchFamily="34" charset="-122"/>
              </a:rPr>
              <a:t>表达</a:t>
            </a:r>
            <a:r>
              <a:rPr lang="en-US" altLang="zh-CN" sz="1300">
                <a:solidFill>
                  <a:srgbClr val="636A71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636A71"/>
                </a:solidFill>
                <a:latin typeface="Microsoft YaHei" panose="020B0503020204020204" pitchFamily="34" charset="-122"/>
              </a:rPr>
              <a:t>结合</a:t>
            </a:r>
            <a:r>
              <a:rPr lang="en-US" altLang="zh-CN" sz="1300">
                <a:solidFill>
                  <a:srgbClr val="636A71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300">
                <a:solidFill>
                  <a:srgbClr val="636A71"/>
                </a:solidFill>
                <a:latin typeface="Microsoft YaHei" panose="020B0503020204020204" pitchFamily="34" charset="-122"/>
              </a:rPr>
              <a:t>功能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FC5326-F516-5522-995B-4DC080BA8A74}"/>
              </a:ext>
            </a:extLst>
          </p:cNvPr>
          <p:cNvSpPr txBox="1"/>
          <p:nvPr/>
        </p:nvSpPr>
        <p:spPr>
          <a:xfrm>
            <a:off x="7099300" y="3111500"/>
            <a:ext cx="4064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100" b="1">
                <a:solidFill>
                  <a:srgbClr val="C96725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81E2825-E265-F5A0-A43B-DB8E2E50F583}"/>
              </a:ext>
            </a:extLst>
          </p:cNvPr>
          <p:cNvSpPr/>
          <p:nvPr/>
        </p:nvSpPr>
        <p:spPr>
          <a:xfrm>
            <a:off x="7518400" y="2603500"/>
            <a:ext cx="1905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3EBCB75-ED3B-338F-DFB0-42DF4E62F629}"/>
              </a:ext>
            </a:extLst>
          </p:cNvPr>
          <p:cNvSpPr txBox="1"/>
          <p:nvPr/>
        </p:nvSpPr>
        <p:spPr>
          <a:xfrm>
            <a:off x="7620000" y="2819400"/>
            <a:ext cx="17018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检验关联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2E4CE73-B9A8-10AC-007A-E46210F3B0CF}"/>
              </a:ext>
            </a:extLst>
          </p:cNvPr>
          <p:cNvSpPr txBox="1"/>
          <p:nvPr/>
        </p:nvSpPr>
        <p:spPr>
          <a:xfrm>
            <a:off x="7620000" y="3429000"/>
            <a:ext cx="17018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zh-CN" sz="1300">
                <a:solidFill>
                  <a:srgbClr val="636A71"/>
                </a:solidFill>
                <a:latin typeface="Microsoft YaHei" panose="020B0503020204020204" pitchFamily="34" charset="-122"/>
              </a:rPr>
              <a:t>Spearman</a:t>
            </a:r>
            <a:r>
              <a:rPr lang="zh-CN" altLang="en-US" sz="1300">
                <a:solidFill>
                  <a:srgbClr val="636A71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636A71"/>
                </a:solidFill>
                <a:latin typeface="Microsoft YaHei" panose="020B0503020204020204" pitchFamily="34" charset="-122"/>
              </a:rPr>
              <a:t>AUC</a:t>
            </a:r>
            <a:r>
              <a:rPr lang="zh-CN" altLang="en-US" sz="1300">
                <a:solidFill>
                  <a:srgbClr val="636A71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636A71"/>
                </a:solidFill>
                <a:latin typeface="Microsoft YaHei" panose="020B0503020204020204" pitchFamily="34" charset="-122"/>
              </a:rPr>
              <a:t>Top-k</a:t>
            </a:r>
            <a:endParaRPr lang="zh-CN" altLang="en-US" sz="13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8A6109A-21BA-211F-C7EF-5466DC25BA17}"/>
              </a:ext>
            </a:extLst>
          </p:cNvPr>
          <p:cNvSpPr txBox="1"/>
          <p:nvPr/>
        </p:nvSpPr>
        <p:spPr>
          <a:xfrm>
            <a:off x="9436100" y="3111500"/>
            <a:ext cx="4064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2100" b="1">
                <a:solidFill>
                  <a:srgbClr val="C96725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44367C49-EAC3-1174-0176-252EB519AA4C}"/>
              </a:ext>
            </a:extLst>
          </p:cNvPr>
          <p:cNvSpPr/>
          <p:nvPr/>
        </p:nvSpPr>
        <p:spPr>
          <a:xfrm>
            <a:off x="9855200" y="2603500"/>
            <a:ext cx="1905000" cy="146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9D2F6BF-3C56-A1C0-4F7D-0CD12B57B414}"/>
              </a:ext>
            </a:extLst>
          </p:cNvPr>
          <p:cNvSpPr txBox="1"/>
          <p:nvPr/>
        </p:nvSpPr>
        <p:spPr>
          <a:xfrm>
            <a:off x="9956800" y="2819400"/>
            <a:ext cx="17018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1F2328"/>
                </a:solidFill>
                <a:latin typeface="Microsoft YaHei" panose="020B0503020204020204" pitchFamily="34" charset="-122"/>
              </a:rPr>
              <a:t>更新设计规则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459A358-3D86-72D2-79FE-018EDAA0C4A2}"/>
              </a:ext>
            </a:extLst>
          </p:cNvPr>
          <p:cNvSpPr txBox="1"/>
          <p:nvPr/>
        </p:nvSpPr>
        <p:spPr>
          <a:xfrm>
            <a:off x="9956800" y="3429000"/>
            <a:ext cx="17018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300">
                <a:solidFill>
                  <a:srgbClr val="636A71"/>
                </a:solidFill>
                <a:latin typeface="Microsoft YaHei" panose="020B0503020204020204" pitchFamily="34" charset="-122"/>
              </a:rPr>
              <a:t>下一轮候选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A147EF9-5A84-7EAA-C162-855CE3241250}"/>
              </a:ext>
            </a:extLst>
          </p:cNvPr>
          <p:cNvSpPr txBox="1"/>
          <p:nvPr/>
        </p:nvSpPr>
        <p:spPr>
          <a:xfrm>
            <a:off x="889000" y="4889500"/>
            <a:ext cx="10414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实验设计控制长度、</a:t>
            </a:r>
            <a:r>
              <a:rPr lang="en-US" altLang="zh-CN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GC </a:t>
            </a:r>
            <a:r>
              <a:rPr lang="zh-CN" altLang="en-US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含量、</a:t>
            </a:r>
            <a:r>
              <a:rPr lang="en-US" altLang="zh-CN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motif </a:t>
            </a:r>
            <a:r>
              <a:rPr lang="zh-CN" altLang="en-US" sz="1700" b="1">
                <a:solidFill>
                  <a:srgbClr val="1F2328"/>
                </a:solidFill>
                <a:latin typeface="Microsoft YaHei" panose="020B0503020204020204" pitchFamily="34" charset="-122"/>
              </a:rPr>
              <a:t>和实验条件；同时设置随机选择或简单规则作为基线。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A09F22C-4093-DEFE-E538-EDB6485DDAC0}"/>
              </a:ext>
            </a:extLst>
          </p:cNvPr>
          <p:cNvSpPr txBox="1"/>
          <p:nvPr/>
        </p:nvSpPr>
        <p:spPr>
          <a:xfrm>
            <a:off x="889000" y="5715000"/>
            <a:ext cx="104140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B95648"/>
                </a:solidFill>
                <a:latin typeface="Microsoft YaHei" panose="020B0503020204020204" pitchFamily="34" charset="-122"/>
              </a:rPr>
              <a:t>模型的目标：提高实验成功候选的富集率，而不是宣称计算结构等同于真实结构。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6B98004-213E-6121-90A1-BD1CA1284C44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11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7001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219768F-90E9-8831-947F-77AD4EBF902F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EA9989-83F7-60D9-C6BB-FC79428D450F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下一步：把模型变成可评审、可复用、可验证的成果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B44B98-B23B-BAEA-4A2E-F3D71CDB64ED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6DC58D-8FC9-BA13-CE1A-E84EF13B01E0}"/>
              </a:ext>
            </a:extLst>
          </p:cNvPr>
          <p:cNvSpPr txBox="1"/>
          <p:nvPr/>
        </p:nvSpPr>
        <p:spPr>
          <a:xfrm>
            <a:off x="1206500" y="2095500"/>
            <a:ext cx="9652000" cy="197490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19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1F2328"/>
                </a:solidFill>
                <a:latin typeface="Microsoft YaHei" panose="020B0503020204020204" pitchFamily="34" charset="-122"/>
              </a:rPr>
              <a:t>冻结第一版 </a:t>
            </a:r>
            <a:r>
              <a:rPr lang="en-US" altLang="zh-CN" sz="1900">
                <a:solidFill>
                  <a:srgbClr val="1F2328"/>
                </a:solidFill>
                <a:latin typeface="Microsoft YaHei" panose="020B0503020204020204" pitchFamily="34" charset="-122"/>
              </a:rPr>
              <a:t>Attribution </a:t>
            </a:r>
            <a:r>
              <a:rPr lang="zh-CN" altLang="en-US" sz="1900">
                <a:solidFill>
                  <a:srgbClr val="1F2328"/>
                </a:solidFill>
                <a:latin typeface="Microsoft YaHei" panose="020B0503020204020204" pitchFamily="34" charset="-122"/>
              </a:rPr>
              <a:t>表与参考文献</a:t>
            </a:r>
          </a:p>
          <a:p>
            <a:pPr>
              <a:spcAft>
                <a:spcPts val="900"/>
              </a:spcAft>
            </a:pPr>
            <a:r>
              <a:rPr lang="en-US" altLang="zh-CN" sz="19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1F2328"/>
                </a:solidFill>
                <a:latin typeface="Microsoft YaHei" panose="020B0503020204020204" pitchFamily="34" charset="-122"/>
              </a:rPr>
              <a:t>发布一键推理接口、示例输入和模型卡</a:t>
            </a:r>
          </a:p>
          <a:p>
            <a:pPr>
              <a:spcAft>
                <a:spcPts val="900"/>
              </a:spcAft>
            </a:pPr>
            <a:r>
              <a:rPr lang="en-US" altLang="zh-CN" sz="19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1F2328"/>
                </a:solidFill>
                <a:latin typeface="Microsoft YaHei" panose="020B0503020204020204" pitchFamily="34" charset="-122"/>
              </a:rPr>
              <a:t>冻结 </a:t>
            </a:r>
            <a:r>
              <a:rPr lang="en-US" altLang="zh-CN" sz="1900">
                <a:solidFill>
                  <a:srgbClr val="1F2328"/>
                </a:solidFill>
                <a:latin typeface="Microsoft YaHei" panose="020B0503020204020204" pitchFamily="34" charset="-122"/>
              </a:rPr>
              <a:t>validation </a:t>
            </a:r>
            <a:r>
              <a:rPr lang="zh-CN" altLang="en-US" sz="1900">
                <a:solidFill>
                  <a:srgbClr val="1F2328"/>
                </a:solidFill>
                <a:latin typeface="Microsoft YaHei" panose="020B0503020204020204" pitchFamily="34" charset="-122"/>
              </a:rPr>
              <a:t>基线与 </a:t>
            </a:r>
            <a:r>
              <a:rPr lang="en-US" altLang="zh-CN" sz="1900">
                <a:solidFill>
                  <a:srgbClr val="1F2328"/>
                </a:solidFill>
                <a:latin typeface="Microsoft YaHei" panose="020B0503020204020204" pitchFamily="34" charset="-122"/>
              </a:rPr>
              <a:t>acceptance criteria</a:t>
            </a:r>
          </a:p>
          <a:p>
            <a:pPr>
              <a:spcAft>
                <a:spcPts val="900"/>
              </a:spcAft>
            </a:pPr>
            <a:r>
              <a:rPr lang="en-US" altLang="zh-CN" sz="19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1F2328"/>
                </a:solidFill>
                <a:latin typeface="Microsoft YaHei" panose="020B0503020204020204" pitchFamily="34" charset="-122"/>
              </a:rPr>
              <a:t>建立高</a:t>
            </a:r>
            <a:r>
              <a:rPr lang="en-US" altLang="zh-CN" sz="1900">
                <a:solidFill>
                  <a:srgbClr val="1F23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900">
                <a:solidFill>
                  <a:srgbClr val="1F2328"/>
                </a:solidFill>
                <a:latin typeface="Microsoft YaHei" panose="020B0503020204020204" pitchFamily="34" charset="-122"/>
              </a:rPr>
              <a:t>中</a:t>
            </a:r>
            <a:r>
              <a:rPr lang="en-US" altLang="zh-CN" sz="1900">
                <a:solidFill>
                  <a:srgbClr val="1F232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900">
                <a:solidFill>
                  <a:srgbClr val="1F2328"/>
                </a:solidFill>
                <a:latin typeface="Microsoft YaHei" panose="020B0503020204020204" pitchFamily="34" charset="-122"/>
              </a:rPr>
              <a:t>低评分候选的湿实验设计</a:t>
            </a:r>
          </a:p>
          <a:p>
            <a:pPr>
              <a:spcAft>
                <a:spcPts val="900"/>
              </a:spcAft>
            </a:pPr>
            <a:r>
              <a:rPr lang="en-US" altLang="zh-CN" sz="1900">
                <a:solidFill>
                  <a:srgbClr val="1F2328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1F2328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900">
                <a:solidFill>
                  <a:srgbClr val="1F2328"/>
                </a:solidFill>
                <a:latin typeface="Microsoft YaHei" panose="020B0503020204020204" pitchFamily="34" charset="-122"/>
              </a:rPr>
              <a:t>Wiki </a:t>
            </a:r>
            <a:r>
              <a:rPr lang="zh-CN" altLang="en-US" sz="1900">
                <a:solidFill>
                  <a:srgbClr val="1F2328"/>
                </a:solidFill>
                <a:latin typeface="Microsoft YaHei" panose="020B0503020204020204" pitchFamily="34" charset="-122"/>
              </a:rPr>
              <a:t>同时展示成功、失败、限制和复现命令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D7FC55E-BBC0-A312-0277-70A43AB64142}"/>
              </a:ext>
            </a:extLst>
          </p:cNvPr>
          <p:cNvSpPr/>
          <p:nvPr/>
        </p:nvSpPr>
        <p:spPr>
          <a:xfrm>
            <a:off x="1206500" y="5334000"/>
            <a:ext cx="9652000" cy="787400"/>
          </a:xfrm>
          <a:prstGeom prst="roundRect">
            <a:avLst/>
          </a:prstGeom>
          <a:solidFill>
            <a:srgbClr val="C96725"/>
          </a:solidFill>
          <a:ln w="12700">
            <a:solidFill>
              <a:srgbClr val="C967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43C639-702E-7283-B9F4-B5FB4BA9C671}"/>
              </a:ext>
            </a:extLst>
          </p:cNvPr>
          <p:cNvSpPr txBox="1"/>
          <p:nvPr/>
        </p:nvSpPr>
        <p:spPr>
          <a:xfrm>
            <a:off x="1422400" y="5549900"/>
            <a:ext cx="9271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最终证据链：来源透明 → 方法可复现 → 指标可测量 → 实验能验证 → 未来队伍可复用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8AE2A21-8FE7-49DB-21EF-61638492796B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12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4221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5DBD81-2C37-C932-46D4-8B61BC4D3966}"/>
              </a:ext>
            </a:extLst>
          </p:cNvPr>
          <p:cNvSpPr txBox="1"/>
          <p:nvPr/>
        </p:nvSpPr>
        <p:spPr>
          <a:xfrm>
            <a:off x="685800" y="304800"/>
            <a:ext cx="10795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100" b="1">
                <a:solidFill>
                  <a:srgbClr val="C96725"/>
                </a:solidFill>
                <a:latin typeface="Microsoft YaHei" panose="020B0503020204020204" pitchFamily="34" charset="-122"/>
              </a:rPr>
              <a:t>RNA MOTIF COMPLETION &amp; 3D FOLDING</a:t>
            </a:r>
            <a:endParaRPr lang="zh-CN" altLang="en-US" sz="1100" b="1">
              <a:solidFill>
                <a:srgbClr val="C9672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E20DE9-30E4-18B1-3C9E-1A5D217F1622}"/>
              </a:ext>
            </a:extLst>
          </p:cNvPr>
          <p:cNvSpPr txBox="1"/>
          <p:nvPr/>
        </p:nvSpPr>
        <p:spPr>
          <a:xfrm>
            <a:off x="685800" y="673100"/>
            <a:ext cx="10795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2700" b="1">
                <a:solidFill>
                  <a:srgbClr val="1F2328"/>
                </a:solidFill>
                <a:latin typeface="Microsoft YaHei" panose="020B0503020204020204" pitchFamily="34" charset="-122"/>
              </a:rPr>
              <a:t>核心方法来源（节选）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C90E7A-98C0-B6F1-02B8-5EE8F26C015B}"/>
              </a:ext>
            </a:extLst>
          </p:cNvPr>
          <p:cNvSpPr/>
          <p:nvPr/>
        </p:nvSpPr>
        <p:spPr>
          <a:xfrm>
            <a:off x="685800" y="1422400"/>
            <a:ext cx="914400" cy="50800"/>
          </a:xfrm>
          <a:prstGeom prst="rect">
            <a:avLst/>
          </a:prstGeom>
          <a:solidFill>
            <a:srgbClr val="C9672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A3ED3A-8997-6BD2-0208-54EA82854391}"/>
              </a:ext>
            </a:extLst>
          </p:cNvPr>
          <p:cNvSpPr txBox="1"/>
          <p:nvPr/>
        </p:nvSpPr>
        <p:spPr>
          <a:xfrm>
            <a:off x="787400" y="1739900"/>
            <a:ext cx="10668000" cy="291361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1400">
                <a:solidFill>
                  <a:srgbClr val="1F2328"/>
                </a:solidFill>
                <a:latin typeface="Microsoft YaHei" panose="020B0503020204020204" pitchFamily="34" charset="-122"/>
              </a:rPr>
              <a:t>• Vaswani et al. Attention Is All You Need. NeurIPS (2017).</a:t>
            </a:r>
          </a:p>
          <a:p>
            <a:pPr>
              <a:spcAft>
                <a:spcPts val="900"/>
              </a:spcAft>
            </a:pPr>
            <a:r>
              <a:rPr lang="en-US" altLang="zh-CN" sz="1400">
                <a:solidFill>
                  <a:srgbClr val="1F2328"/>
                </a:solidFill>
                <a:latin typeface="Microsoft YaHei" panose="020B0503020204020204" pitchFamily="34" charset="-122"/>
              </a:rPr>
              <a:t>• Devlin et al. BERT. NAACL (2019). DOI: 10.18653/v1/N19-1423</a:t>
            </a:r>
          </a:p>
          <a:p>
            <a:pPr>
              <a:spcAft>
                <a:spcPts val="900"/>
              </a:spcAft>
            </a:pPr>
            <a:r>
              <a:rPr lang="en-US" altLang="zh-CN" sz="1400">
                <a:solidFill>
                  <a:srgbClr val="1F2328"/>
                </a:solidFill>
                <a:latin typeface="Microsoft YaHei" panose="020B0503020204020204" pitchFamily="34" charset="-122"/>
              </a:rPr>
              <a:t>• Jumper et al. AlphaFold2. Nature (2021). DOI: 10.1038/s41586-021-03819-2</a:t>
            </a:r>
          </a:p>
          <a:p>
            <a:pPr>
              <a:spcAft>
                <a:spcPts val="900"/>
              </a:spcAft>
            </a:pPr>
            <a:r>
              <a:rPr lang="en-US" altLang="zh-CN" sz="1400">
                <a:solidFill>
                  <a:srgbClr val="1F2328"/>
                </a:solidFill>
                <a:latin typeface="Microsoft YaHei" panose="020B0503020204020204" pitchFamily="34" charset="-122"/>
              </a:rPr>
              <a:t>• Shen et al. RhoFold+. Nature Methods (2024). DOI: 10.1038/s41592-024-02487-0</a:t>
            </a:r>
          </a:p>
          <a:p>
            <a:pPr>
              <a:spcAft>
                <a:spcPts val="900"/>
              </a:spcAft>
            </a:pPr>
            <a:r>
              <a:rPr lang="en-US" altLang="zh-CN" sz="1400">
                <a:solidFill>
                  <a:srgbClr val="1F2328"/>
                </a:solidFill>
                <a:latin typeface="Microsoft YaHei" panose="020B0503020204020204" pitchFamily="34" charset="-122"/>
              </a:rPr>
              <a:t>• Parsons et al. NeRF. J. Comput. Chem. (2005). DOI: 10.1002/jcc.20237</a:t>
            </a:r>
          </a:p>
          <a:p>
            <a:pPr>
              <a:spcAft>
                <a:spcPts val="900"/>
              </a:spcAft>
            </a:pPr>
            <a:r>
              <a:rPr lang="en-US" altLang="zh-CN" sz="1400">
                <a:solidFill>
                  <a:srgbClr val="1F2328"/>
                </a:solidFill>
                <a:latin typeface="Microsoft YaHei" panose="020B0503020204020204" pitchFamily="34" charset="-122"/>
              </a:rPr>
              <a:t>• Richardson et al. RNA backbone conformers. RNA (2008). DOI: 10.1261/rna.657708</a:t>
            </a:r>
          </a:p>
          <a:p>
            <a:pPr>
              <a:spcAft>
                <a:spcPts val="900"/>
              </a:spcAft>
            </a:pPr>
            <a:r>
              <a:rPr lang="en-US" altLang="zh-CN" sz="1400">
                <a:solidFill>
                  <a:srgbClr val="1F2328"/>
                </a:solidFill>
                <a:latin typeface="Microsoft YaHei" panose="020B0503020204020204" pitchFamily="34" charset="-122"/>
              </a:rPr>
              <a:t>• Mariani et al. lDDT. Bioinformatics (2013). DOI: 10.1093/bioinformatics/btt473</a:t>
            </a:r>
          </a:p>
          <a:p>
            <a:pPr>
              <a:spcAft>
                <a:spcPts val="900"/>
              </a:spcAft>
            </a:pPr>
            <a:r>
              <a:rPr lang="en-US" altLang="zh-CN" sz="1400">
                <a:solidFill>
                  <a:srgbClr val="1F2328"/>
                </a:solidFill>
                <a:latin typeface="Microsoft YaHei" panose="020B0503020204020204" pitchFamily="34" charset="-122"/>
              </a:rPr>
              <a:t>• Chen et al. MolProbity. Acta Cryst. D (2010). DOI: 10.1107/S0907444909042073</a:t>
            </a:r>
          </a:p>
          <a:p>
            <a:pPr>
              <a:spcAft>
                <a:spcPts val="900"/>
              </a:spcAft>
            </a:pPr>
            <a:r>
              <a:rPr lang="en-US" altLang="zh-CN" sz="1400">
                <a:solidFill>
                  <a:srgbClr val="1F2328"/>
                </a:solidFill>
                <a:latin typeface="Microsoft YaHei" panose="020B0503020204020204" pitchFamily="34" charset="-122"/>
              </a:rPr>
              <a:t>• Szikszai et al. RNA3DB. JMB (2024). DOI: 10.1016/j.jmb.2024.168552</a:t>
            </a:r>
            <a:endParaRPr lang="zh-CN" altLang="en-US" sz="1400">
              <a:solidFill>
                <a:srgbClr val="1F232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3EB1A3-6A29-81E2-74CD-5C56C0951054}"/>
              </a:ext>
            </a:extLst>
          </p:cNvPr>
          <p:cNvSpPr txBox="1"/>
          <p:nvPr/>
        </p:nvSpPr>
        <p:spPr>
          <a:xfrm>
            <a:off x="685800" y="6553200"/>
            <a:ext cx="1079500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900">
                <a:solidFill>
                  <a:srgbClr val="636A71"/>
                </a:solidFill>
                <a:latin typeface="Microsoft YaHei" panose="020B0503020204020204" pitchFamily="34" charset="-122"/>
              </a:rPr>
              <a:t>RNA-one-D-model  •  iGEM Engineering  •  13</a:t>
            </a:r>
            <a:endParaRPr lang="zh-CN" altLang="en-US" sz="900">
              <a:solidFill>
                <a:srgbClr val="636A71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002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1391</Words>
  <Application>Microsoft Office PowerPoint</Application>
  <PresentationFormat>自定义</PresentationFormat>
  <Paragraphs>170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卫帅玺</dc:creator>
  <cp:lastModifiedBy>卫帅玺</cp:lastModifiedBy>
  <cp:revision>1</cp:revision>
  <dcterms:created xsi:type="dcterms:W3CDTF">2026-08-12T06:18:12Z</dcterms:created>
  <dcterms:modified xsi:type="dcterms:W3CDTF">2026-08-12T06:19:28Z</dcterms:modified>
</cp:coreProperties>
</file>